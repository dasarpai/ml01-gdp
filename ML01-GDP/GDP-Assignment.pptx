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54"/>
  </p:notesMasterIdLst>
  <p:handoutMasterIdLst>
    <p:handoutMasterId r:id="rId55"/>
  </p:handoutMasterIdLst>
  <p:sldIdLst>
    <p:sldId id="257" r:id="rId5"/>
    <p:sldId id="278" r:id="rId6"/>
    <p:sldId id="280" r:id="rId7"/>
    <p:sldId id="281" r:id="rId8"/>
    <p:sldId id="282" r:id="rId9"/>
    <p:sldId id="283" r:id="rId10"/>
    <p:sldId id="299" r:id="rId11"/>
    <p:sldId id="320" r:id="rId12"/>
    <p:sldId id="285" r:id="rId13"/>
    <p:sldId id="286" r:id="rId14"/>
    <p:sldId id="279" r:id="rId15"/>
    <p:sldId id="287" r:id="rId16"/>
    <p:sldId id="309" r:id="rId17"/>
    <p:sldId id="288" r:id="rId18"/>
    <p:sldId id="289" r:id="rId19"/>
    <p:sldId id="290" r:id="rId20"/>
    <p:sldId id="291" r:id="rId21"/>
    <p:sldId id="300" r:id="rId22"/>
    <p:sldId id="292" r:id="rId23"/>
    <p:sldId id="293" r:id="rId24"/>
    <p:sldId id="294" r:id="rId25"/>
    <p:sldId id="310" r:id="rId26"/>
    <p:sldId id="311" r:id="rId27"/>
    <p:sldId id="312" r:id="rId28"/>
    <p:sldId id="313" r:id="rId29"/>
    <p:sldId id="314" r:id="rId30"/>
    <p:sldId id="315" r:id="rId31"/>
    <p:sldId id="295" r:id="rId32"/>
    <p:sldId id="316" r:id="rId33"/>
    <p:sldId id="318" r:id="rId34"/>
    <p:sldId id="319" r:id="rId35"/>
    <p:sldId id="296" r:id="rId36"/>
    <p:sldId id="297" r:id="rId37"/>
    <p:sldId id="271" r:id="rId38"/>
    <p:sldId id="308" r:id="rId39"/>
    <p:sldId id="303" r:id="rId40"/>
    <p:sldId id="325" r:id="rId41"/>
    <p:sldId id="268" r:id="rId42"/>
    <p:sldId id="321" r:id="rId43"/>
    <p:sldId id="322" r:id="rId44"/>
    <p:sldId id="304" r:id="rId45"/>
    <p:sldId id="305" r:id="rId46"/>
    <p:sldId id="306" r:id="rId47"/>
    <p:sldId id="307" r:id="rId48"/>
    <p:sldId id="326" r:id="rId49"/>
    <p:sldId id="301" r:id="rId50"/>
    <p:sldId id="323" r:id="rId51"/>
    <p:sldId id="270" r:id="rId52"/>
    <p:sldId id="298" r:id="rId53"/>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2496">
          <p15:clr>
            <a:srgbClr val="A4A3A4"/>
          </p15:clr>
        </p15:guide>
        <p15:guide id="3" orient="horz" pos="2880">
          <p15:clr>
            <a:srgbClr val="A4A3A4"/>
          </p15:clr>
        </p15:guide>
        <p15:guide id="4" orient="horz" pos="1056">
          <p15:clr>
            <a:srgbClr val="A4A3A4"/>
          </p15:clr>
        </p15:guide>
        <p15:guide id="5" orient="horz" pos="3888">
          <p15:clr>
            <a:srgbClr val="A4A3A4"/>
          </p15:clr>
        </p15:guide>
        <p15:guide id="6" orient="horz" pos="240">
          <p15:clr>
            <a:srgbClr val="A4A3A4"/>
          </p15:clr>
        </p15:guide>
        <p15:guide id="7" pos="3839">
          <p15:clr>
            <a:srgbClr val="A4A3A4"/>
          </p15:clr>
        </p15:guide>
        <p15:guide id="8" pos="527">
          <p15:clr>
            <a:srgbClr val="A4A3A4"/>
          </p15:clr>
        </p15:guide>
        <p15:guide id="9" pos="815">
          <p15:clr>
            <a:srgbClr val="A4A3A4"/>
          </p15:clr>
        </p15:guide>
        <p15:guide id="10" pos="6863">
          <p15:clr>
            <a:srgbClr val="A4A3A4"/>
          </p15:clr>
        </p15:guide>
        <p15:guide id="11" pos="6143">
          <p15:clr>
            <a:srgbClr val="A4A3A4"/>
          </p15:clr>
        </p15:guide>
        <p15:guide id="12" pos="4703">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60"/>
  </p:normalViewPr>
  <p:slideViewPr>
    <p:cSldViewPr>
      <p:cViewPr varScale="1">
        <p:scale>
          <a:sx n="62" d="100"/>
          <a:sy n="62" d="100"/>
        </p:scale>
        <p:origin x="36" y="42"/>
      </p:cViewPr>
      <p:guideLst>
        <p:guide orient="horz" pos="2160"/>
        <p:guide orient="horz" pos="2496"/>
        <p:guide orient="horz" pos="2880"/>
        <p:guide orient="horz" pos="1056"/>
        <p:guide orient="horz" pos="3888"/>
        <p:guide orient="horz" pos="240"/>
        <p:guide pos="3839"/>
        <p:guide pos="527"/>
        <p:guide pos="815"/>
        <p:guide pos="6863"/>
        <p:guide pos="6143"/>
        <p:guide pos="4703"/>
      </p:guideLst>
    </p:cSldViewPr>
  </p:slideViewPr>
  <p:notesTextViewPr>
    <p:cViewPr>
      <p:scale>
        <a:sx n="1" d="1"/>
        <a:sy n="1" d="1"/>
      </p:scale>
      <p:origin x="0" y="0"/>
    </p:cViewPr>
  </p:notesTextViewPr>
  <p:sorterViewPr>
    <p:cViewPr>
      <p:scale>
        <a:sx n="100" d="100"/>
        <a:sy n="100" d="100"/>
      </p:scale>
      <p:origin x="0" y="-15282"/>
    </p:cViewPr>
  </p:sorterViewPr>
  <p:notesViewPr>
    <p:cSldViewPr>
      <p:cViewPr varScale="1">
        <p:scale>
          <a:sx n="76" d="100"/>
          <a:sy n="76" d="100"/>
        </p:scale>
        <p:origin x="168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A5A207F-0F91-42F2-96D0-049C6003623B}" type="datetimeFigureOut">
              <a:rPr lang="en-US"/>
              <a:t>4/27/2019</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C567D4A-04CB-4EDF-8FB1-342A02FC8EC5}" type="slidenum">
              <a:rPr/>
              <a:t>‹#›</a:t>
            </a:fld>
            <a:endParaRPr/>
          </a:p>
        </p:txBody>
      </p:sp>
    </p:spTree>
    <p:extLst>
      <p:ext uri="{BB962C8B-B14F-4D97-AF65-F5344CB8AC3E}">
        <p14:creationId xmlns:p14="http://schemas.microsoft.com/office/powerpoint/2010/main" val="15801253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CC13F5-F2B1-464B-BE8F-27ABFBD2FBDE}" type="datetimeFigureOut">
              <a:rPr lang="en-US"/>
              <a:t>4/27/2019</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E61351F-DBB1-4664-ADA9-83BC7CB8848D}" type="slidenum">
              <a:rPr/>
              <a:t>‹#›</a:t>
            </a:fld>
            <a:endParaRPr/>
          </a:p>
        </p:txBody>
      </p:sp>
    </p:spTree>
    <p:extLst>
      <p:ext uri="{BB962C8B-B14F-4D97-AF65-F5344CB8AC3E}">
        <p14:creationId xmlns:p14="http://schemas.microsoft.com/office/powerpoint/2010/main" val="3642362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ltGray">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93814" y="990600"/>
            <a:ext cx="8458200" cy="3200400"/>
          </a:xfrm>
        </p:spPr>
        <p:txBody>
          <a:bodyPr>
            <a:normAutofit/>
          </a:bodyPr>
          <a:lstStyle>
            <a:lvl1pPr>
              <a:defRPr sz="6000"/>
            </a:lvl1pPr>
          </a:lstStyle>
          <a:p>
            <a:r>
              <a:rPr lang="en-US" dirty="0"/>
              <a:t>Click to edit Master title style</a:t>
            </a:r>
            <a:endParaRPr dirty="0"/>
          </a:p>
        </p:txBody>
      </p:sp>
      <p:sp>
        <p:nvSpPr>
          <p:cNvPr id="3" name="Subtitle 2"/>
          <p:cNvSpPr>
            <a:spLocks noGrp="1"/>
          </p:cNvSpPr>
          <p:nvPr>
            <p:ph type="subTitle" idx="1"/>
          </p:nvPr>
        </p:nvSpPr>
        <p:spPr>
          <a:xfrm>
            <a:off x="1293813" y="4267200"/>
            <a:ext cx="8458200" cy="1371600"/>
          </a:xfrm>
          <a:noFill/>
        </p:spPr>
        <p:txBody>
          <a:bodyPr>
            <a:norm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fld id="{99D2A58A-F6A3-44B4-8553-CA3EAF252FB7}" type="datetime1">
              <a:rPr lang="en-US" smtClean="0"/>
              <a:t>4/27/2019</a:t>
            </a:fld>
            <a:endParaRPr lang="en-US"/>
          </a:p>
        </p:txBody>
      </p:sp>
      <p:sp>
        <p:nvSpPr>
          <p:cNvPr id="5" name="Footer Placeholder 4"/>
          <p:cNvSpPr>
            <a:spLocks noGrp="1"/>
          </p:cNvSpPr>
          <p:nvPr>
            <p:ph type="ftr" sz="quarter" idx="11"/>
          </p:nvPr>
        </p:nvSpPr>
        <p:spPr/>
        <p:txBody>
          <a:bodyPr/>
          <a:lstStyle/>
          <a:p>
            <a:r>
              <a:rPr lang="en-US"/>
              <a:t>Add a footer</a:t>
            </a:r>
          </a:p>
        </p:txBody>
      </p:sp>
      <p:sp>
        <p:nvSpPr>
          <p:cNvPr id="6" name="Slide Number Placeholder 5"/>
          <p:cNvSpPr>
            <a:spLocks noGrp="1"/>
          </p:cNvSpPr>
          <p:nvPr>
            <p:ph type="sldNum" sz="quarter" idx="12"/>
          </p:nvPr>
        </p:nvSpPr>
        <p:spPr/>
        <p:txBody>
          <a:bodyPr/>
          <a:lstStyle/>
          <a:p>
            <a:fld id="{81FEFA0A-2F20-4B60-98C6-5FFDA469AA1C}" type="slidenum">
              <a:rPr lang="en-US" smtClean="0"/>
              <a:t>‹#›</a:t>
            </a:fld>
            <a:endParaRPr lang="en-US"/>
          </a:p>
        </p:txBody>
      </p:sp>
    </p:spTree>
    <p:extLst>
      <p:ext uri="{BB962C8B-B14F-4D97-AF65-F5344CB8AC3E}">
        <p14:creationId xmlns:p14="http://schemas.microsoft.com/office/powerpoint/2010/main" val="287859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53852" y="44624"/>
            <a:ext cx="10873208" cy="713184"/>
          </a:xfrm>
        </p:spPr>
        <p:txBody>
          <a:bodyPr/>
          <a:lstStyle/>
          <a:p>
            <a:r>
              <a:rPr lang="en-US" dirty="0"/>
              <a:t>Click to edit Master title style</a:t>
            </a:r>
            <a:endParaRPr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DD05BD3E-AD23-4233-B7FD-BCC74AA741B1}" type="datetime1">
              <a:rPr lang="en-US" smtClean="0"/>
              <a:t>4/27/2019</a:t>
            </a:fld>
            <a:endParaRPr lang="en-US"/>
          </a:p>
        </p:txBody>
      </p:sp>
      <p:sp>
        <p:nvSpPr>
          <p:cNvPr id="5" name="Footer Placeholder 4"/>
          <p:cNvSpPr>
            <a:spLocks noGrp="1"/>
          </p:cNvSpPr>
          <p:nvPr>
            <p:ph type="ftr" sz="quarter" idx="11"/>
          </p:nvPr>
        </p:nvSpPr>
        <p:spPr/>
        <p:txBody>
          <a:bodyPr/>
          <a:lstStyle/>
          <a:p>
            <a:r>
              <a:rPr lang="en-US"/>
              <a:t>Add a footer</a:t>
            </a:r>
          </a:p>
        </p:txBody>
      </p:sp>
      <p:sp>
        <p:nvSpPr>
          <p:cNvPr id="6" name="Slide Number Placeholder 5"/>
          <p:cNvSpPr>
            <a:spLocks noGrp="1"/>
          </p:cNvSpPr>
          <p:nvPr>
            <p:ph type="sldNum" sz="quarter" idx="12"/>
          </p:nvPr>
        </p:nvSpPr>
        <p:spPr/>
        <p:txBody>
          <a:bodyPr/>
          <a:lstStyle/>
          <a:p>
            <a:fld id="{81FEFA0A-2F20-4B60-98C6-5FFDA469AA1C}" type="slidenum">
              <a:rPr lang="en-US" smtClean="0"/>
              <a:t>‹#›</a:t>
            </a:fld>
            <a:endParaRPr lang="en-US"/>
          </a:p>
        </p:txBody>
      </p:sp>
      <p:sp>
        <p:nvSpPr>
          <p:cNvPr id="8" name="Text Placeholder 7">
            <a:extLst>
              <a:ext uri="{FF2B5EF4-FFF2-40B4-BE49-F238E27FC236}">
                <a16:creationId xmlns:a16="http://schemas.microsoft.com/office/drawing/2014/main" id="{5BFA0A54-6DB0-44E1-AA1B-A2B9A1D64739}"/>
              </a:ext>
            </a:extLst>
          </p:cNvPr>
          <p:cNvSpPr>
            <a:spLocks noGrp="1"/>
          </p:cNvSpPr>
          <p:nvPr>
            <p:ph type="body" sz="quarter" idx="13"/>
          </p:nvPr>
        </p:nvSpPr>
        <p:spPr>
          <a:xfrm>
            <a:off x="25301" y="18745"/>
            <a:ext cx="936625" cy="648048"/>
          </a:xfr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a:noAutofit/>
          </a:bodyPr>
          <a:lstStyle>
            <a:lvl1pPr marL="0" indent="0">
              <a:buNone/>
              <a:defRPr sz="1800"/>
            </a:lvl1pPr>
            <a:lvl2pPr marL="274320" indent="0">
              <a:buNone/>
              <a:defRPr sz="1800"/>
            </a:lvl2pPr>
            <a:lvl3pPr marL="548640" indent="0">
              <a:buNone/>
              <a:defRPr sz="1800"/>
            </a:lvl3pPr>
            <a:lvl4pPr marL="822960" indent="0">
              <a:buNone/>
              <a:defRPr sz="1800"/>
            </a:lvl4pPr>
            <a:lvl5pPr marL="1097280" indent="0">
              <a:buNone/>
              <a:defRPr sz="1800"/>
            </a:lvl5pPr>
          </a:lstStyle>
          <a:p>
            <a:pPr lvl="0"/>
            <a:r>
              <a:rPr lang="en-US" dirty="0"/>
              <a:t>Click to edit Master</a:t>
            </a:r>
          </a:p>
        </p:txBody>
      </p:sp>
    </p:spTree>
    <p:extLst>
      <p:ext uri="{BB962C8B-B14F-4D97-AF65-F5344CB8AC3E}">
        <p14:creationId xmlns:p14="http://schemas.microsoft.com/office/powerpoint/2010/main" val="2194492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3813" y="2057400"/>
            <a:ext cx="8458201" cy="2666999"/>
          </a:xfrm>
        </p:spPr>
        <p:txBody>
          <a:bodyPr anchor="b">
            <a:normAutofit/>
          </a:bodyPr>
          <a:lstStyle>
            <a:lvl1pPr algn="l">
              <a:defRPr sz="4800" b="0" i="0" cap="none" baseline="0"/>
            </a:lvl1pPr>
          </a:lstStyle>
          <a:p>
            <a:r>
              <a:rPr lang="en-US"/>
              <a:t>Click to edit Master title style</a:t>
            </a:r>
            <a:endParaRPr/>
          </a:p>
        </p:txBody>
      </p:sp>
      <p:sp>
        <p:nvSpPr>
          <p:cNvPr id="3" name="Text Placeholder 2"/>
          <p:cNvSpPr>
            <a:spLocks noGrp="1"/>
          </p:cNvSpPr>
          <p:nvPr>
            <p:ph type="body" idx="1"/>
          </p:nvPr>
        </p:nvSpPr>
        <p:spPr>
          <a:xfrm>
            <a:off x="1293813" y="4876800"/>
            <a:ext cx="8458201" cy="1143000"/>
          </a:xfrm>
          <a:noFill/>
        </p:spPr>
        <p:txBody>
          <a:bodyPr anchor="t">
            <a:normAutofit/>
          </a:bodyPr>
          <a:lstStyle>
            <a:lvl1pPr marL="0" indent="0">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F85C56-1C19-4454-A6D4-FDB294070137}" type="datetime1">
              <a:rPr lang="en-US" smtClean="0"/>
              <a:t>4/27/2019</a:t>
            </a:fld>
            <a:endParaRPr lang="en-US"/>
          </a:p>
        </p:txBody>
      </p:sp>
      <p:sp>
        <p:nvSpPr>
          <p:cNvPr id="5" name="Footer Placeholder 4"/>
          <p:cNvSpPr>
            <a:spLocks noGrp="1"/>
          </p:cNvSpPr>
          <p:nvPr>
            <p:ph type="ftr" sz="quarter" idx="11"/>
          </p:nvPr>
        </p:nvSpPr>
        <p:spPr/>
        <p:txBody>
          <a:bodyPr/>
          <a:lstStyle/>
          <a:p>
            <a:r>
              <a:rPr lang="en-US"/>
              <a:t>Add a footer</a:t>
            </a:r>
          </a:p>
        </p:txBody>
      </p:sp>
      <p:sp>
        <p:nvSpPr>
          <p:cNvPr id="6" name="Slide Number Placeholder 5"/>
          <p:cNvSpPr>
            <a:spLocks noGrp="1"/>
          </p:cNvSpPr>
          <p:nvPr>
            <p:ph type="sldNum" sz="quarter" idx="12"/>
          </p:nvPr>
        </p:nvSpPr>
        <p:spPr/>
        <p:txBody>
          <a:bodyPr/>
          <a:lstStyle/>
          <a:p>
            <a:fld id="{81FEFA0A-2F20-4B60-98C6-5FFDA469AA1C}" type="slidenum">
              <a:rPr lang="en-US" smtClean="0"/>
              <a:t>‹#›</a:t>
            </a:fld>
            <a:endParaRPr lang="en-US"/>
          </a:p>
        </p:txBody>
      </p:sp>
    </p:spTree>
    <p:extLst>
      <p:ext uri="{BB962C8B-B14F-4D97-AF65-F5344CB8AC3E}">
        <p14:creationId xmlns:p14="http://schemas.microsoft.com/office/powerpoint/2010/main" val="221561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97868" y="0"/>
            <a:ext cx="10990956" cy="836712"/>
          </a:xfrm>
          <a:solidFill>
            <a:schemeClr val="accent3">
              <a:lumMod val="75000"/>
            </a:schemeClr>
          </a:solidFill>
        </p:spPr>
        <p:txBody>
          <a:bodyPr/>
          <a:lstStyle>
            <a:lvl1pPr>
              <a:defRPr>
                <a:solidFill>
                  <a:schemeClr val="bg1"/>
                </a:solidFill>
              </a:defRPr>
            </a:lvl1pPr>
          </a:lstStyle>
          <a:p>
            <a:r>
              <a:rPr lang="en-US"/>
              <a:t>Click to edit Master title style</a:t>
            </a:r>
            <a:endParaRPr/>
          </a:p>
        </p:txBody>
      </p:sp>
      <p:sp>
        <p:nvSpPr>
          <p:cNvPr id="3" name="Date Placeholder 2"/>
          <p:cNvSpPr>
            <a:spLocks noGrp="1"/>
          </p:cNvSpPr>
          <p:nvPr>
            <p:ph type="dt" sz="half" idx="10"/>
          </p:nvPr>
        </p:nvSpPr>
        <p:spPr/>
        <p:txBody>
          <a:bodyPr/>
          <a:lstStyle/>
          <a:p>
            <a:fld id="{7B00E9B8-A638-47B9-8EAF-A06FB35BB403}" type="datetime1">
              <a:rPr lang="en-US" smtClean="0"/>
              <a:t>4/27/2019</a:t>
            </a:fld>
            <a:endParaRPr lang="en-US"/>
          </a:p>
        </p:txBody>
      </p:sp>
      <p:sp>
        <p:nvSpPr>
          <p:cNvPr id="4" name="Footer Placeholder 3"/>
          <p:cNvSpPr>
            <a:spLocks noGrp="1"/>
          </p:cNvSpPr>
          <p:nvPr>
            <p:ph type="ftr" sz="quarter" idx="11"/>
          </p:nvPr>
        </p:nvSpPr>
        <p:spPr/>
        <p:txBody>
          <a:bodyPr/>
          <a:lstStyle/>
          <a:p>
            <a:r>
              <a:rPr lang="en-US"/>
              <a:t>Add a footer</a:t>
            </a:r>
          </a:p>
        </p:txBody>
      </p:sp>
      <p:sp>
        <p:nvSpPr>
          <p:cNvPr id="5" name="Slide Number Placeholder 4"/>
          <p:cNvSpPr>
            <a:spLocks noGrp="1"/>
          </p:cNvSpPr>
          <p:nvPr>
            <p:ph type="sldNum" sz="quarter" idx="12"/>
          </p:nvPr>
        </p:nvSpPr>
        <p:spPr/>
        <p:txBody>
          <a:bodyPr/>
          <a:lstStyle/>
          <a:p>
            <a:fld id="{81FEFA0A-2F20-4B60-98C6-5FFDA469AA1C}" type="slidenum">
              <a:rPr lang="en-US" smtClean="0"/>
              <a:t>‹#›</a:t>
            </a:fld>
            <a:endParaRPr lang="en-US"/>
          </a:p>
        </p:txBody>
      </p:sp>
      <p:sp>
        <p:nvSpPr>
          <p:cNvPr id="14" name="Text Placeholder 7">
            <a:extLst>
              <a:ext uri="{FF2B5EF4-FFF2-40B4-BE49-F238E27FC236}">
                <a16:creationId xmlns:a16="http://schemas.microsoft.com/office/drawing/2014/main" id="{EBAF5D7F-A5DC-4520-B6C0-821C82450FC9}"/>
              </a:ext>
            </a:extLst>
          </p:cNvPr>
          <p:cNvSpPr>
            <a:spLocks noGrp="1"/>
          </p:cNvSpPr>
          <p:nvPr>
            <p:ph type="body" sz="quarter" idx="13"/>
          </p:nvPr>
        </p:nvSpPr>
        <p:spPr>
          <a:xfrm>
            <a:off x="17617" y="18745"/>
            <a:ext cx="936625" cy="648048"/>
          </a:xfr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a:noAutofit/>
          </a:bodyPr>
          <a:lstStyle>
            <a:lvl1pPr marL="0" indent="0">
              <a:buNone/>
              <a:defRPr sz="1800"/>
            </a:lvl1pPr>
            <a:lvl2pPr marL="274320" indent="0">
              <a:buNone/>
              <a:defRPr sz="1800"/>
            </a:lvl2pPr>
            <a:lvl3pPr marL="548640" indent="0">
              <a:buNone/>
              <a:defRPr sz="1800"/>
            </a:lvl3pPr>
            <a:lvl4pPr marL="822960" indent="0">
              <a:buNone/>
              <a:defRPr sz="1800"/>
            </a:lvl4pPr>
            <a:lvl5pPr marL="1097280" indent="0">
              <a:buNone/>
              <a:defRPr sz="1800"/>
            </a:lvl5pPr>
          </a:lstStyle>
          <a:p>
            <a:pPr lvl="0"/>
            <a:r>
              <a:rPr lang="en-US" dirty="0"/>
              <a:t>Click to edit Master</a:t>
            </a:r>
          </a:p>
        </p:txBody>
      </p:sp>
    </p:spTree>
    <p:extLst>
      <p:ext uri="{BB962C8B-B14F-4D97-AF65-F5344CB8AC3E}">
        <p14:creationId xmlns:p14="http://schemas.microsoft.com/office/powerpoint/2010/main" val="951180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34692" y="772324"/>
            <a:ext cx="946558" cy="6021288"/>
          </a:xfrm>
          <a:solidFill>
            <a:schemeClr val="accent3">
              <a:lumMod val="75000"/>
            </a:schemeClr>
          </a:solidFill>
        </p:spPr>
        <p:txBody>
          <a:bodyPr vert="vert270">
            <a:normAutofit/>
          </a:bodyPr>
          <a:lstStyle>
            <a:lvl1pPr algn="l">
              <a:defRPr sz="2200">
                <a:solidFill>
                  <a:schemeClr val="bg1"/>
                </a:solidFill>
              </a:defRPr>
            </a:lvl1pPr>
          </a:lstStyle>
          <a:p>
            <a:r>
              <a:rPr lang="en-US" dirty="0"/>
              <a:t>Click to edit Master title style</a:t>
            </a:r>
            <a:endParaRPr dirty="0"/>
          </a:p>
        </p:txBody>
      </p:sp>
      <p:sp>
        <p:nvSpPr>
          <p:cNvPr id="3" name="Date Placeholder 2"/>
          <p:cNvSpPr>
            <a:spLocks noGrp="1"/>
          </p:cNvSpPr>
          <p:nvPr>
            <p:ph type="dt" sz="half" idx="10"/>
          </p:nvPr>
        </p:nvSpPr>
        <p:spPr/>
        <p:txBody>
          <a:bodyPr/>
          <a:lstStyle/>
          <a:p>
            <a:fld id="{7B00E9B8-A638-47B9-8EAF-A06FB35BB403}" type="datetime1">
              <a:rPr lang="en-US" smtClean="0"/>
              <a:t>4/27/2019</a:t>
            </a:fld>
            <a:endParaRPr lang="en-US"/>
          </a:p>
        </p:txBody>
      </p:sp>
      <p:sp>
        <p:nvSpPr>
          <p:cNvPr id="4" name="Footer Placeholder 3"/>
          <p:cNvSpPr>
            <a:spLocks noGrp="1"/>
          </p:cNvSpPr>
          <p:nvPr>
            <p:ph type="ftr" sz="quarter" idx="11"/>
          </p:nvPr>
        </p:nvSpPr>
        <p:spPr/>
        <p:txBody>
          <a:bodyPr/>
          <a:lstStyle/>
          <a:p>
            <a:r>
              <a:rPr lang="en-US"/>
              <a:t>Add a footer</a:t>
            </a:r>
          </a:p>
        </p:txBody>
      </p:sp>
      <p:sp>
        <p:nvSpPr>
          <p:cNvPr id="5" name="Slide Number Placeholder 4"/>
          <p:cNvSpPr>
            <a:spLocks noGrp="1"/>
          </p:cNvSpPr>
          <p:nvPr>
            <p:ph type="sldNum" sz="quarter" idx="12"/>
          </p:nvPr>
        </p:nvSpPr>
        <p:spPr/>
        <p:txBody>
          <a:bodyPr/>
          <a:lstStyle/>
          <a:p>
            <a:fld id="{81FEFA0A-2F20-4B60-98C6-5FFDA469AA1C}" type="slidenum">
              <a:rPr lang="en-US" smtClean="0"/>
              <a:t>‹#›</a:t>
            </a:fld>
            <a:endParaRPr lang="en-US"/>
          </a:p>
        </p:txBody>
      </p:sp>
      <p:sp>
        <p:nvSpPr>
          <p:cNvPr id="10" name="Text Placeholder 7">
            <a:extLst>
              <a:ext uri="{FF2B5EF4-FFF2-40B4-BE49-F238E27FC236}">
                <a16:creationId xmlns:a16="http://schemas.microsoft.com/office/drawing/2014/main" id="{903952E5-C043-4DD7-BD46-2157D6305038}"/>
              </a:ext>
            </a:extLst>
          </p:cNvPr>
          <p:cNvSpPr>
            <a:spLocks noGrp="1"/>
          </p:cNvSpPr>
          <p:nvPr>
            <p:ph type="body" sz="quarter" idx="13"/>
          </p:nvPr>
        </p:nvSpPr>
        <p:spPr>
          <a:xfrm>
            <a:off x="25301" y="11061"/>
            <a:ext cx="936625" cy="648048"/>
          </a:xfr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a:noAutofit/>
          </a:bodyPr>
          <a:lstStyle>
            <a:lvl1pPr marL="0" indent="0">
              <a:buNone/>
              <a:defRPr sz="1800"/>
            </a:lvl1pPr>
            <a:lvl2pPr marL="274320" indent="0">
              <a:buNone/>
              <a:defRPr sz="1800"/>
            </a:lvl2pPr>
            <a:lvl3pPr marL="548640" indent="0">
              <a:buNone/>
              <a:defRPr sz="1800"/>
            </a:lvl3pPr>
            <a:lvl4pPr marL="822960" indent="0">
              <a:buNone/>
              <a:defRPr sz="1800"/>
            </a:lvl4pPr>
            <a:lvl5pPr marL="1097280" indent="0">
              <a:buNone/>
              <a:defRPr sz="1800"/>
            </a:lvl5pPr>
          </a:lstStyle>
          <a:p>
            <a:pPr lvl="0"/>
            <a:r>
              <a:rPr lang="en-US" dirty="0"/>
              <a:t>Click to edit Master</a:t>
            </a:r>
          </a:p>
        </p:txBody>
      </p:sp>
    </p:spTree>
    <p:extLst>
      <p:ext uri="{BB962C8B-B14F-4D97-AF65-F5344CB8AC3E}">
        <p14:creationId xmlns:p14="http://schemas.microsoft.com/office/powerpoint/2010/main" val="569915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0414C0-40BC-46FB-ADE3-F7141007B5FB}" type="datetime1">
              <a:rPr lang="en-US" smtClean="0"/>
              <a:t>4/27/2019</a:t>
            </a:fld>
            <a:endParaRPr lang="en-US"/>
          </a:p>
        </p:txBody>
      </p:sp>
      <p:sp>
        <p:nvSpPr>
          <p:cNvPr id="3" name="Footer Placeholder 2"/>
          <p:cNvSpPr>
            <a:spLocks noGrp="1"/>
          </p:cNvSpPr>
          <p:nvPr>
            <p:ph type="ftr" sz="quarter" idx="11"/>
          </p:nvPr>
        </p:nvSpPr>
        <p:spPr/>
        <p:txBody>
          <a:bodyPr/>
          <a:lstStyle/>
          <a:p>
            <a:r>
              <a:rPr lang="en-US"/>
              <a:t>Add a footer</a:t>
            </a:r>
          </a:p>
        </p:txBody>
      </p:sp>
      <p:sp>
        <p:nvSpPr>
          <p:cNvPr id="4" name="Slide Number Placeholder 3"/>
          <p:cNvSpPr>
            <a:spLocks noGrp="1"/>
          </p:cNvSpPr>
          <p:nvPr>
            <p:ph type="sldNum" sz="quarter" idx="12"/>
          </p:nvPr>
        </p:nvSpPr>
        <p:spPr/>
        <p:txBody>
          <a:bodyPr/>
          <a:lstStyle/>
          <a:p>
            <a:fld id="{81FEFA0A-2F20-4B60-98C6-5FFDA469AA1C}" type="slidenum">
              <a:rPr lang="en-US" smtClean="0"/>
              <a:t>‹#›</a:t>
            </a:fld>
            <a:endParaRPr lang="en-US"/>
          </a:p>
        </p:txBody>
      </p:sp>
    </p:spTree>
    <p:extLst>
      <p:ext uri="{BB962C8B-B14F-4D97-AF65-F5344CB8AC3E}">
        <p14:creationId xmlns:p14="http://schemas.microsoft.com/office/powerpoint/2010/main" val="3339154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3772" y="44624"/>
            <a:ext cx="11737304" cy="864096"/>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333772" y="1124744"/>
            <a:ext cx="11737304" cy="4975448"/>
          </a:xfrm>
          <a:prstGeom prst="rect">
            <a:avLst/>
          </a:prstGeom>
          <a:solidFill>
            <a:schemeClr val="bg2">
              <a:alpha val="70000"/>
            </a:schemeClr>
          </a:solidFill>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1271781" y="6356351"/>
            <a:ext cx="2844059" cy="365125"/>
          </a:xfrm>
          <a:prstGeom prst="rect">
            <a:avLst/>
          </a:prstGeom>
        </p:spPr>
        <p:txBody>
          <a:bodyPr vert="horz" lIns="91440" tIns="45720" rIns="91440" bIns="45720" rtlCol="0" anchor="ctr"/>
          <a:lstStyle>
            <a:lvl1pPr algn="l">
              <a:defRPr sz="1100">
                <a:solidFill>
                  <a:schemeClr val="tx1"/>
                </a:solidFill>
              </a:defRPr>
            </a:lvl1pPr>
          </a:lstStyle>
          <a:p>
            <a:fld id="{41B0D41C-F0D3-49F0-8041-67FC705A40C6}" type="datetime1">
              <a:rPr lang="en-US" smtClean="0"/>
              <a:pPr/>
              <a:t>4/27/2019</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100">
                <a:solidFill>
                  <a:schemeClr val="tx1"/>
                </a:solidFill>
              </a:defRPr>
            </a:lvl1pPr>
          </a:lstStyle>
          <a:p>
            <a:r>
              <a:rPr lang="en-US"/>
              <a:t>Add a footer</a:t>
            </a:r>
          </a:p>
        </p:txBody>
      </p:sp>
      <p:sp>
        <p:nvSpPr>
          <p:cNvPr id="6" name="Slide Number Placeholder 5"/>
          <p:cNvSpPr>
            <a:spLocks noGrp="1"/>
          </p:cNvSpPr>
          <p:nvPr>
            <p:ph type="sldNum" sz="quarter" idx="4"/>
          </p:nvPr>
        </p:nvSpPr>
        <p:spPr>
          <a:xfrm>
            <a:off x="8051225" y="6356351"/>
            <a:ext cx="2844059" cy="365125"/>
          </a:xfrm>
          <a:prstGeom prst="rect">
            <a:avLst/>
          </a:prstGeom>
        </p:spPr>
        <p:txBody>
          <a:bodyPr vert="horz" lIns="91440" tIns="45720" rIns="91440" bIns="45720" rtlCol="0" anchor="ctr"/>
          <a:lstStyle>
            <a:lvl1pPr algn="r">
              <a:defRPr sz="1100">
                <a:solidFill>
                  <a:schemeClr val="tx1"/>
                </a:solidFill>
              </a:defRPr>
            </a:lvl1pPr>
          </a:lstStyle>
          <a:p>
            <a:fld id="{81FEFA0A-2F20-4B60-98C6-5FFDA469AA1C}" type="slidenum">
              <a:rPr lang="en-US" smtClean="0"/>
              <a:pPr/>
              <a:t>‹#›</a:t>
            </a:fld>
            <a:endParaRPr lang="en-US"/>
          </a:p>
        </p:txBody>
      </p:sp>
    </p:spTree>
    <p:extLst>
      <p:ext uri="{BB962C8B-B14F-4D97-AF65-F5344CB8AC3E}">
        <p14:creationId xmlns:p14="http://schemas.microsoft.com/office/powerpoint/2010/main" val="26957396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6" r:id="rId4"/>
    <p:sldLayoutId id="2147483672" r:id="rId5"/>
    <p:sldLayoutId id="2147483667" r:id="rId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3838" indent="-228600" algn="l" defTabSz="914400" rtl="0" eaLnBrk="1" latinLnBrk="0" hangingPunct="1">
        <a:lnSpc>
          <a:spcPct val="90000"/>
        </a:lnSpc>
        <a:spcBef>
          <a:spcPts val="1600"/>
        </a:spcBef>
        <a:buClr>
          <a:schemeClr val="accent6"/>
        </a:buClr>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6"/>
        </a:buClr>
        <a:buFont typeface="Euphemia" pitchFamily="34"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Clr>
          <a:schemeClr val="accent6"/>
        </a:buClr>
        <a:buFont typeface="Euphemia" pitchFamily="34" charset="0"/>
        <a:buChar char="–"/>
        <a:defRPr sz="1800" kern="1200">
          <a:solidFill>
            <a:schemeClr val="tx1"/>
          </a:solidFill>
          <a:latin typeface="+mn-lt"/>
          <a:ea typeface="+mn-ea"/>
          <a:cs typeface="+mn-cs"/>
        </a:defRPr>
      </a:lvl3pPr>
      <a:lvl4pPr marL="1051560" indent="-228600" algn="l" defTabSz="914400" rtl="0" eaLnBrk="1" latinLnBrk="0" hangingPunct="1">
        <a:lnSpc>
          <a:spcPct val="90000"/>
        </a:lnSpc>
        <a:spcBef>
          <a:spcPts val="600"/>
        </a:spcBef>
        <a:buClr>
          <a:schemeClr val="accent6"/>
        </a:buClr>
        <a:buFont typeface="Euphemia" pitchFamily="34" charset="0"/>
        <a:buChar char="–"/>
        <a:defRPr sz="1600" kern="1200">
          <a:solidFill>
            <a:schemeClr val="tx1"/>
          </a:solidFill>
          <a:latin typeface="+mn-lt"/>
          <a:ea typeface="+mn-ea"/>
          <a:cs typeface="+mn-cs"/>
        </a:defRPr>
      </a:lvl4pPr>
      <a:lvl5pPr marL="1325880" indent="-228600" algn="l" defTabSz="914400" rtl="0" eaLnBrk="1" latinLnBrk="0" hangingPunct="1">
        <a:lnSpc>
          <a:spcPct val="90000"/>
        </a:lnSpc>
        <a:spcBef>
          <a:spcPts val="600"/>
        </a:spcBef>
        <a:buClr>
          <a:schemeClr val="accent6"/>
        </a:buClr>
        <a:buFont typeface="Euphemia" pitchFamily="34" charset="0"/>
        <a:buChar char="–"/>
        <a:defRPr sz="1600" kern="1200">
          <a:solidFill>
            <a:schemeClr val="tx1"/>
          </a:solidFill>
          <a:latin typeface="+mn-lt"/>
          <a:ea typeface="+mn-ea"/>
          <a:cs typeface="+mn-cs"/>
        </a:defRPr>
      </a:lvl5pPr>
      <a:lvl6pPr marL="1600200" indent="-228600" algn="l" defTabSz="914400" rtl="0" eaLnBrk="1" latinLnBrk="0" hangingPunct="1">
        <a:spcBef>
          <a:spcPts val="600"/>
        </a:spcBef>
        <a:buFont typeface="Euphemia" pitchFamily="34" charset="0"/>
        <a:buChar char="–"/>
        <a:defRPr sz="1600" kern="1200">
          <a:solidFill>
            <a:schemeClr val="tx1"/>
          </a:solidFill>
          <a:latin typeface="+mn-lt"/>
          <a:ea typeface="+mn-ea"/>
          <a:cs typeface="+mn-cs"/>
        </a:defRPr>
      </a:lvl6pPr>
      <a:lvl7pPr marL="1874520" indent="-228600" algn="l" defTabSz="914400" rtl="0" eaLnBrk="1" latinLnBrk="0" hangingPunct="1">
        <a:spcBef>
          <a:spcPts val="600"/>
        </a:spcBef>
        <a:buFont typeface="Euphemia" pitchFamily="34" charset="0"/>
        <a:buChar char="–"/>
        <a:defRPr sz="1600" kern="1200">
          <a:solidFill>
            <a:schemeClr val="tx1"/>
          </a:solidFill>
          <a:latin typeface="+mn-lt"/>
          <a:ea typeface="+mn-ea"/>
          <a:cs typeface="+mn-cs"/>
        </a:defRPr>
      </a:lvl7pPr>
      <a:lvl8pPr marL="2148840" indent="-228600" algn="l" defTabSz="914400" rtl="0" eaLnBrk="1" latinLnBrk="0" hangingPunct="1">
        <a:spcBef>
          <a:spcPts val="600"/>
        </a:spcBef>
        <a:buFont typeface="Euphemia" pitchFamily="34" charset="0"/>
        <a:buChar char="–"/>
        <a:defRPr sz="1600" kern="1200">
          <a:solidFill>
            <a:schemeClr val="tx1"/>
          </a:solidFill>
          <a:latin typeface="+mn-lt"/>
          <a:ea typeface="+mn-ea"/>
          <a:cs typeface="+mn-cs"/>
        </a:defRPr>
      </a:lvl8pPr>
      <a:lvl9pPr marL="2423160" indent="-228600" algn="l" defTabSz="914400" rtl="0" eaLnBrk="1" latinLnBrk="0" hangingPunct="1">
        <a:spcBef>
          <a:spcPts val="600"/>
        </a:spcBef>
        <a:buFont typeface="Euphemia"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GDP Assignment</a:t>
            </a:r>
          </a:p>
        </p:txBody>
      </p:sp>
      <p:sp>
        <p:nvSpPr>
          <p:cNvPr id="3" name="Subtitle 2"/>
          <p:cNvSpPr>
            <a:spLocks noGrp="1"/>
          </p:cNvSpPr>
          <p:nvPr>
            <p:ph type="subTitle" idx="1"/>
          </p:nvPr>
        </p:nvSpPr>
        <p:spPr/>
        <p:txBody>
          <a:bodyPr/>
          <a:lstStyle/>
          <a:p>
            <a:r>
              <a:rPr lang="en-US" dirty="0"/>
              <a:t>IIITB Data Science Course I, Module 6</a:t>
            </a:r>
          </a:p>
          <a:p>
            <a:endParaRPr lang="en-US" dirty="0"/>
          </a:p>
          <a:p>
            <a:r>
              <a:rPr lang="en-US" dirty="0"/>
              <a:t>By: Hari Thapliyal</a:t>
            </a:r>
          </a:p>
        </p:txBody>
      </p:sp>
    </p:spTree>
    <p:extLst>
      <p:ext uri="{BB962C8B-B14F-4D97-AF65-F5344CB8AC3E}">
        <p14:creationId xmlns:p14="http://schemas.microsoft.com/office/powerpoint/2010/main" val="752280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B75FB69-F80B-4582-B973-F37B64BD5C0A}"/>
              </a:ext>
            </a:extLst>
          </p:cNvPr>
          <p:cNvSpPr>
            <a:spLocks noGrp="1"/>
          </p:cNvSpPr>
          <p:nvPr>
            <p:ph type="title"/>
          </p:nvPr>
        </p:nvSpPr>
        <p:spPr/>
        <p:txBody>
          <a:bodyPr/>
          <a:lstStyle/>
          <a:p>
            <a:r>
              <a:rPr lang="en-US" b="1" dirty="0"/>
              <a:t>Part IA: GDP Analysis of Indian States</a:t>
            </a:r>
          </a:p>
        </p:txBody>
      </p:sp>
      <p:sp>
        <p:nvSpPr>
          <p:cNvPr id="6" name="Text Placeholder 5">
            <a:extLst>
              <a:ext uri="{FF2B5EF4-FFF2-40B4-BE49-F238E27FC236}">
                <a16:creationId xmlns:a16="http://schemas.microsoft.com/office/drawing/2014/main" id="{5BCF5D31-776C-4791-8625-889CAFC27F4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61220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8167B4-5DB9-43F5-84BD-A28B4F3F3F90}"/>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46322794-C147-43C9-A35D-07DDAD45F99C}"/>
              </a:ext>
            </a:extLst>
          </p:cNvPr>
          <p:cNvSpPr>
            <a:spLocks noGrp="1"/>
          </p:cNvSpPr>
          <p:nvPr>
            <p:ph idx="1"/>
          </p:nvPr>
        </p:nvSpPr>
        <p:spPr/>
        <p:txBody>
          <a:bodyPr/>
          <a:lstStyle/>
          <a:p>
            <a:r>
              <a:rPr lang="en-US" b="1" i="1" dirty="0"/>
              <a:t>Remove the rows: '(% Growth over the previous year)' and 'GSDP - CURRENT PRICES</a:t>
            </a:r>
            <a:endParaRPr lang="en-US" dirty="0"/>
          </a:p>
        </p:txBody>
      </p:sp>
      <p:sp>
        <p:nvSpPr>
          <p:cNvPr id="6" name="Text Placeholder 5">
            <a:extLst>
              <a:ext uri="{FF2B5EF4-FFF2-40B4-BE49-F238E27FC236}">
                <a16:creationId xmlns:a16="http://schemas.microsoft.com/office/drawing/2014/main" id="{149F1181-6657-4AF8-9795-28076465042D}"/>
              </a:ext>
            </a:extLst>
          </p:cNvPr>
          <p:cNvSpPr>
            <a:spLocks noGrp="1"/>
          </p:cNvSpPr>
          <p:nvPr>
            <p:ph type="body" sz="quarter" idx="13"/>
          </p:nvPr>
        </p:nvSpPr>
        <p:spPr/>
        <p:txBody>
          <a:bodyPr/>
          <a:lstStyle/>
          <a:p>
            <a:r>
              <a:rPr lang="en-US" dirty="0"/>
              <a:t>Task 1</a:t>
            </a:r>
          </a:p>
        </p:txBody>
      </p:sp>
    </p:spTree>
    <p:extLst>
      <p:ext uri="{BB962C8B-B14F-4D97-AF65-F5344CB8AC3E}">
        <p14:creationId xmlns:p14="http://schemas.microsoft.com/office/powerpoint/2010/main" val="1125923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a:extLst>
              <a:ext uri="{FF2B5EF4-FFF2-40B4-BE49-F238E27FC236}">
                <a16:creationId xmlns:a16="http://schemas.microsoft.com/office/drawing/2014/main" id="{55707467-AB62-41B5-9F90-0188DBE55A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128" y="913552"/>
            <a:ext cx="11120441" cy="535332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A6CE61C-B443-4DC3-8FF3-FF4BA42AF28D}"/>
              </a:ext>
            </a:extLst>
          </p:cNvPr>
          <p:cNvSpPr>
            <a:spLocks noGrp="1"/>
          </p:cNvSpPr>
          <p:nvPr>
            <p:ph type="title"/>
          </p:nvPr>
        </p:nvSpPr>
        <p:spPr/>
        <p:txBody>
          <a:bodyPr>
            <a:noAutofit/>
          </a:bodyPr>
          <a:lstStyle/>
          <a:p>
            <a:r>
              <a:rPr lang="en-US" sz="2400" b="1" i="1" dirty="0"/>
              <a:t>Calculate the average growth of states over the duration 2013-14, 2014-15 and 2015-16</a:t>
            </a:r>
            <a:endParaRPr lang="en-US" sz="2400" dirty="0"/>
          </a:p>
        </p:txBody>
      </p:sp>
      <p:sp>
        <p:nvSpPr>
          <p:cNvPr id="4" name="Text Placeholder 3">
            <a:extLst>
              <a:ext uri="{FF2B5EF4-FFF2-40B4-BE49-F238E27FC236}">
                <a16:creationId xmlns:a16="http://schemas.microsoft.com/office/drawing/2014/main" id="{63323CE5-A263-4380-8A4A-70B2F82570ED}"/>
              </a:ext>
            </a:extLst>
          </p:cNvPr>
          <p:cNvSpPr>
            <a:spLocks noGrp="1"/>
          </p:cNvSpPr>
          <p:nvPr>
            <p:ph type="body" sz="quarter" idx="13"/>
          </p:nvPr>
        </p:nvSpPr>
        <p:spPr/>
        <p:txBody>
          <a:bodyPr/>
          <a:lstStyle/>
          <a:p>
            <a:r>
              <a:rPr lang="en-US" dirty="0"/>
              <a:t>Task 2</a:t>
            </a:r>
          </a:p>
        </p:txBody>
      </p:sp>
      <p:sp>
        <p:nvSpPr>
          <p:cNvPr id="5" name="Arrow: Up 4">
            <a:extLst>
              <a:ext uri="{FF2B5EF4-FFF2-40B4-BE49-F238E27FC236}">
                <a16:creationId xmlns:a16="http://schemas.microsoft.com/office/drawing/2014/main" id="{39A68E18-1E17-4320-9C6F-0252BAD3E068}"/>
              </a:ext>
            </a:extLst>
          </p:cNvPr>
          <p:cNvSpPr/>
          <p:nvPr/>
        </p:nvSpPr>
        <p:spPr>
          <a:xfrm>
            <a:off x="9406780" y="4221088"/>
            <a:ext cx="432048" cy="1296144"/>
          </a:xfrm>
          <a:prstGeom prst="upArrow">
            <a:avLst/>
          </a:prstGeom>
          <a:solidFill>
            <a:schemeClr val="accent4">
              <a:shade val="80000"/>
              <a:satMod val="150000"/>
              <a:alpha val="53000"/>
            </a:schemeClr>
          </a:solidFill>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F65B3799-F8D0-46F7-BABA-D1A363D800CC}"/>
              </a:ext>
            </a:extLst>
          </p:cNvPr>
          <p:cNvSpPr txBox="1"/>
          <p:nvPr/>
        </p:nvSpPr>
        <p:spPr>
          <a:xfrm>
            <a:off x="8686700" y="1375754"/>
            <a:ext cx="2952327" cy="1015663"/>
          </a:xfrm>
          <a:prstGeom prst="rect">
            <a:avLst/>
          </a:prstGeom>
          <a:solidFill>
            <a:srgbClr val="00B050"/>
          </a:solidFill>
          <a:ln>
            <a:solidFill>
              <a:schemeClr val="accent4"/>
            </a:solidFill>
          </a:ln>
        </p:spPr>
        <p:txBody>
          <a:bodyPr wrap="square" rtlCol="0" anchor="ctr" anchorCtr="1">
            <a:spAutoFit/>
          </a:bodyPr>
          <a:lstStyle/>
          <a:p>
            <a:pPr algn="ctr"/>
            <a:r>
              <a:rPr lang="en-US" sz="2800" dirty="0">
                <a:solidFill>
                  <a:schemeClr val="bg1"/>
                </a:solidFill>
              </a:rPr>
              <a:t>6 States </a:t>
            </a:r>
          </a:p>
          <a:p>
            <a:pPr algn="ctr"/>
            <a:r>
              <a:rPr lang="en-US" sz="1600" dirty="0">
                <a:solidFill>
                  <a:schemeClr val="bg1"/>
                </a:solidFill>
              </a:rPr>
              <a:t>Has GDP Growth rate less than national average</a:t>
            </a:r>
          </a:p>
        </p:txBody>
      </p:sp>
    </p:spTree>
    <p:extLst>
      <p:ext uri="{BB962C8B-B14F-4D97-AF65-F5344CB8AC3E}">
        <p14:creationId xmlns:p14="http://schemas.microsoft.com/office/powerpoint/2010/main" val="2982722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4714C357-013F-4728-998E-B48EC4A2AC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828" y="1166813"/>
            <a:ext cx="11089232" cy="528652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5D76D48-91BA-4EF3-880D-0EE634D8F540}"/>
              </a:ext>
            </a:extLst>
          </p:cNvPr>
          <p:cNvSpPr>
            <a:spLocks noGrp="1"/>
          </p:cNvSpPr>
          <p:nvPr>
            <p:ph type="title"/>
          </p:nvPr>
        </p:nvSpPr>
        <p:spPr/>
        <p:txBody>
          <a:bodyPr/>
          <a:lstStyle/>
          <a:p>
            <a:r>
              <a:rPr lang="en-US" dirty="0"/>
              <a:t>Mean GSDP of the states between 2013-16</a:t>
            </a:r>
          </a:p>
        </p:txBody>
      </p:sp>
      <p:sp>
        <p:nvSpPr>
          <p:cNvPr id="3" name="Text Placeholder 2">
            <a:extLst>
              <a:ext uri="{FF2B5EF4-FFF2-40B4-BE49-F238E27FC236}">
                <a16:creationId xmlns:a16="http://schemas.microsoft.com/office/drawing/2014/main" id="{6741D513-1283-4602-9B66-EEED398ABA67}"/>
              </a:ext>
            </a:extLst>
          </p:cNvPr>
          <p:cNvSpPr>
            <a:spLocks noGrp="1"/>
          </p:cNvSpPr>
          <p:nvPr>
            <p:ph type="body" sz="quarter" idx="13"/>
          </p:nvPr>
        </p:nvSpPr>
        <p:spPr/>
        <p:txBody>
          <a:bodyPr/>
          <a:lstStyle/>
          <a:p>
            <a:r>
              <a:rPr lang="en-US" dirty="0"/>
              <a:t>Extra</a:t>
            </a:r>
          </a:p>
        </p:txBody>
      </p:sp>
      <p:sp>
        <p:nvSpPr>
          <p:cNvPr id="7" name="TextBox 6">
            <a:extLst>
              <a:ext uri="{FF2B5EF4-FFF2-40B4-BE49-F238E27FC236}">
                <a16:creationId xmlns:a16="http://schemas.microsoft.com/office/drawing/2014/main" id="{FA2A4E4B-1B60-4F20-944C-93337969672A}"/>
              </a:ext>
            </a:extLst>
          </p:cNvPr>
          <p:cNvSpPr txBox="1"/>
          <p:nvPr/>
        </p:nvSpPr>
        <p:spPr>
          <a:xfrm>
            <a:off x="7966620" y="1628800"/>
            <a:ext cx="3744415" cy="861774"/>
          </a:xfrm>
          <a:prstGeom prst="rect">
            <a:avLst/>
          </a:prstGeom>
          <a:solidFill>
            <a:srgbClr val="00B050"/>
          </a:solidFill>
          <a:ln>
            <a:solidFill>
              <a:schemeClr val="accent4"/>
            </a:solidFill>
          </a:ln>
        </p:spPr>
        <p:txBody>
          <a:bodyPr wrap="square" rtlCol="0" anchor="ctr" anchorCtr="1">
            <a:spAutoFit/>
          </a:bodyPr>
          <a:lstStyle/>
          <a:p>
            <a:pPr algn="ctr"/>
            <a:r>
              <a:rPr lang="en-US" sz="3200" dirty="0">
                <a:solidFill>
                  <a:schemeClr val="bg1"/>
                </a:solidFill>
              </a:rPr>
              <a:t>5 States </a:t>
            </a:r>
          </a:p>
          <a:p>
            <a:pPr algn="ctr"/>
            <a:r>
              <a:rPr lang="en-US" dirty="0">
                <a:solidFill>
                  <a:schemeClr val="bg1"/>
                </a:solidFill>
              </a:rPr>
              <a:t>Generates 50% of the GDP</a:t>
            </a:r>
          </a:p>
        </p:txBody>
      </p:sp>
    </p:spTree>
    <p:extLst>
      <p:ext uri="{BB962C8B-B14F-4D97-AF65-F5344CB8AC3E}">
        <p14:creationId xmlns:p14="http://schemas.microsoft.com/office/powerpoint/2010/main" val="3311154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61B808F-5CA6-47D7-ADB1-020EDCF5F3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188" y="1462088"/>
            <a:ext cx="11982450" cy="39338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25BEF0E-8C43-471A-964A-24D58459AF1A}"/>
              </a:ext>
            </a:extLst>
          </p:cNvPr>
          <p:cNvSpPr>
            <a:spLocks noGrp="1"/>
          </p:cNvSpPr>
          <p:nvPr>
            <p:ph type="title"/>
          </p:nvPr>
        </p:nvSpPr>
        <p:spPr/>
        <p:txBody>
          <a:bodyPr>
            <a:noAutofit/>
          </a:bodyPr>
          <a:lstStyle/>
          <a:p>
            <a:r>
              <a:rPr lang="en-US" sz="2800" b="1" i="1" dirty="0"/>
              <a:t>States have been growing consistently fast, and have been struggling on GDP?</a:t>
            </a:r>
            <a:endParaRPr lang="en-US" sz="2800" dirty="0"/>
          </a:p>
        </p:txBody>
      </p:sp>
      <p:sp>
        <p:nvSpPr>
          <p:cNvPr id="3" name="Text Placeholder 2">
            <a:extLst>
              <a:ext uri="{FF2B5EF4-FFF2-40B4-BE49-F238E27FC236}">
                <a16:creationId xmlns:a16="http://schemas.microsoft.com/office/drawing/2014/main" id="{99414FEF-4873-45E2-B834-35D572F1CD57}"/>
              </a:ext>
            </a:extLst>
          </p:cNvPr>
          <p:cNvSpPr>
            <a:spLocks noGrp="1"/>
          </p:cNvSpPr>
          <p:nvPr>
            <p:ph type="body" sz="quarter" idx="13"/>
          </p:nvPr>
        </p:nvSpPr>
        <p:spPr/>
        <p:txBody>
          <a:bodyPr/>
          <a:lstStyle/>
          <a:p>
            <a:r>
              <a:rPr lang="en-US" dirty="0"/>
              <a:t>Task 3</a:t>
            </a:r>
          </a:p>
        </p:txBody>
      </p:sp>
      <p:sp>
        <p:nvSpPr>
          <p:cNvPr id="6" name="Arrow: Up 5">
            <a:extLst>
              <a:ext uri="{FF2B5EF4-FFF2-40B4-BE49-F238E27FC236}">
                <a16:creationId xmlns:a16="http://schemas.microsoft.com/office/drawing/2014/main" id="{8A886974-76A3-4A6F-92ED-F08D6A47F2E3}"/>
              </a:ext>
            </a:extLst>
          </p:cNvPr>
          <p:cNvSpPr/>
          <p:nvPr/>
        </p:nvSpPr>
        <p:spPr>
          <a:xfrm>
            <a:off x="405780" y="3861048"/>
            <a:ext cx="432048" cy="1296144"/>
          </a:xfrm>
          <a:prstGeom prst="upArrow">
            <a:avLst/>
          </a:prstGeom>
          <a:solidFill>
            <a:schemeClr val="accent4">
              <a:shade val="80000"/>
              <a:satMod val="150000"/>
              <a:alpha val="53000"/>
            </a:schemeClr>
          </a:solidFill>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8490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C3651C6-4279-4724-B580-2582F278BFD9}"/>
              </a:ext>
            </a:extLst>
          </p:cNvPr>
          <p:cNvSpPr>
            <a:spLocks noGrp="1"/>
          </p:cNvSpPr>
          <p:nvPr>
            <p:ph type="title"/>
          </p:nvPr>
        </p:nvSpPr>
        <p:spPr/>
        <p:txBody>
          <a:bodyPr>
            <a:noAutofit/>
          </a:bodyPr>
          <a:lstStyle/>
          <a:p>
            <a:r>
              <a:rPr lang="en-US" sz="2400" b="1" i="1" dirty="0"/>
              <a:t>States have been growing consistently fast, and have been struggling on GDP?</a:t>
            </a:r>
            <a:endParaRPr lang="en-US" sz="2400" dirty="0"/>
          </a:p>
        </p:txBody>
      </p:sp>
      <p:graphicFrame>
        <p:nvGraphicFramePr>
          <p:cNvPr id="8" name="Content Placeholder 7">
            <a:extLst>
              <a:ext uri="{FF2B5EF4-FFF2-40B4-BE49-F238E27FC236}">
                <a16:creationId xmlns:a16="http://schemas.microsoft.com/office/drawing/2014/main" id="{3C30AAAC-A411-4F17-B39A-996FF9A7C7E2}"/>
              </a:ext>
            </a:extLst>
          </p:cNvPr>
          <p:cNvGraphicFramePr>
            <a:graphicFrameLocks noGrp="1"/>
          </p:cNvGraphicFramePr>
          <p:nvPr>
            <p:ph idx="1"/>
            <p:extLst>
              <p:ext uri="{D42A27DB-BD31-4B8C-83A1-F6EECF244321}">
                <p14:modId xmlns:p14="http://schemas.microsoft.com/office/powerpoint/2010/main" val="1941315037"/>
              </p:ext>
            </p:extLst>
          </p:nvPr>
        </p:nvGraphicFramePr>
        <p:xfrm>
          <a:off x="333375" y="1125538"/>
          <a:ext cx="11737976" cy="3479800"/>
        </p:xfrm>
        <a:graphic>
          <a:graphicData uri="http://schemas.openxmlformats.org/drawingml/2006/table">
            <a:tbl>
              <a:tblPr firstRow="1" bandRow="1">
                <a:tableStyleId>{D03447BB-5D67-496B-8E87-E561075AD55C}</a:tableStyleId>
              </a:tblPr>
              <a:tblGrid>
                <a:gridCol w="3096741">
                  <a:extLst>
                    <a:ext uri="{9D8B030D-6E8A-4147-A177-3AD203B41FA5}">
                      <a16:colId xmlns:a16="http://schemas.microsoft.com/office/drawing/2014/main" val="2785445656"/>
                    </a:ext>
                  </a:extLst>
                </a:gridCol>
                <a:gridCol w="3240360">
                  <a:extLst>
                    <a:ext uri="{9D8B030D-6E8A-4147-A177-3AD203B41FA5}">
                      <a16:colId xmlns:a16="http://schemas.microsoft.com/office/drawing/2014/main" val="938155864"/>
                    </a:ext>
                  </a:extLst>
                </a:gridCol>
                <a:gridCol w="2520280">
                  <a:extLst>
                    <a:ext uri="{9D8B030D-6E8A-4147-A177-3AD203B41FA5}">
                      <a16:colId xmlns:a16="http://schemas.microsoft.com/office/drawing/2014/main" val="168140250"/>
                    </a:ext>
                  </a:extLst>
                </a:gridCol>
                <a:gridCol w="2880595">
                  <a:extLst>
                    <a:ext uri="{9D8B030D-6E8A-4147-A177-3AD203B41FA5}">
                      <a16:colId xmlns:a16="http://schemas.microsoft.com/office/drawing/2014/main" val="3436616202"/>
                    </a:ext>
                  </a:extLst>
                </a:gridCol>
              </a:tblGrid>
              <a:tr h="370840">
                <a:tc>
                  <a:txBody>
                    <a:bodyPr/>
                    <a:lstStyle/>
                    <a:p>
                      <a:r>
                        <a:rPr lang="en-US" dirty="0"/>
                        <a:t>Growing</a:t>
                      </a:r>
                    </a:p>
                  </a:txBody>
                  <a:tcPr/>
                </a:tc>
                <a:tc>
                  <a:txBody>
                    <a:bodyPr/>
                    <a:lstStyle/>
                    <a:p>
                      <a:r>
                        <a:rPr lang="en-US" dirty="0"/>
                        <a:t>Maintaining</a:t>
                      </a:r>
                    </a:p>
                  </a:txBody>
                  <a:tcPr/>
                </a:tc>
                <a:tc>
                  <a:txBody>
                    <a:bodyPr/>
                    <a:lstStyle/>
                    <a:p>
                      <a:r>
                        <a:rPr lang="en-US" dirty="0"/>
                        <a:t>Ups &amp; Downs</a:t>
                      </a:r>
                    </a:p>
                  </a:txBody>
                  <a:tcPr/>
                </a:tc>
                <a:tc>
                  <a:txBody>
                    <a:bodyPr/>
                    <a:lstStyle/>
                    <a:p>
                      <a:r>
                        <a:rPr lang="en-US" dirty="0"/>
                        <a:t>Declining</a:t>
                      </a:r>
                    </a:p>
                  </a:txBody>
                  <a:tcPr/>
                </a:tc>
                <a:extLst>
                  <a:ext uri="{0D108BD9-81ED-4DB2-BD59-A6C34878D82A}">
                    <a16:rowId xmlns:a16="http://schemas.microsoft.com/office/drawing/2014/main" val="955112503"/>
                  </a:ext>
                </a:extLst>
              </a:tr>
              <a:tr h="370840">
                <a:tc>
                  <a:txBody>
                    <a:bodyPr/>
                    <a:lstStyle/>
                    <a:p>
                      <a:pPr marL="342900" indent="-342900">
                        <a:buFont typeface="+mj-lt"/>
                        <a:buAutoNum type="arabicPeriod"/>
                      </a:pPr>
                      <a:r>
                        <a:rPr lang="en-US" dirty="0">
                          <a:effectLst/>
                        </a:rPr>
                        <a:t>Andhra</a:t>
                      </a:r>
                    </a:p>
                    <a:p>
                      <a:pPr marL="342900" indent="-342900">
                        <a:buFont typeface="+mj-lt"/>
                        <a:buAutoNum type="arabicPeriod"/>
                      </a:pPr>
                      <a:r>
                        <a:rPr lang="en-US" dirty="0"/>
                        <a:t>Goa (except 15-16)</a:t>
                      </a:r>
                    </a:p>
                    <a:p>
                      <a:pPr marL="342900" indent="-342900">
                        <a:buFont typeface="+mj-lt"/>
                        <a:buAutoNum type="arabicPeriod"/>
                      </a:pPr>
                      <a:r>
                        <a:rPr lang="en-US" dirty="0"/>
                        <a:t>Manipur (except 13-14)</a:t>
                      </a:r>
                    </a:p>
                    <a:p>
                      <a:pPr marL="342900" indent="-342900">
                        <a:buFont typeface="+mj-lt"/>
                        <a:buAutoNum type="arabicPeriod"/>
                      </a:pPr>
                      <a:r>
                        <a:rPr lang="en-US" dirty="0"/>
                        <a:t>Meghalaya (except 12 13)</a:t>
                      </a:r>
                    </a:p>
                    <a:p>
                      <a:pPr marL="342900" indent="-342900">
                        <a:buFont typeface="+mj-lt"/>
                        <a:buAutoNum type="arabicPeriod"/>
                      </a:pPr>
                      <a:r>
                        <a:rPr lang="en-US" dirty="0"/>
                        <a:t>Telangana (except 15-16)</a:t>
                      </a:r>
                    </a:p>
                  </a:txBody>
                  <a:tcPr/>
                </a:tc>
                <a:tc>
                  <a:txBody>
                    <a:bodyPr/>
                    <a:lstStyle/>
                    <a:p>
                      <a:pPr marL="342900" indent="-342900">
                        <a:buFont typeface="+mj-lt"/>
                        <a:buAutoNum type="arabicPeriod"/>
                      </a:pPr>
                      <a:r>
                        <a:rPr lang="en-US" dirty="0">
                          <a:effectLst/>
                        </a:rPr>
                        <a:t>Delhi</a:t>
                      </a:r>
                    </a:p>
                    <a:p>
                      <a:pPr marL="342900" indent="-342900">
                        <a:buFont typeface="+mj-lt"/>
                        <a:buAutoNum type="arabicPeriod"/>
                      </a:pPr>
                      <a:r>
                        <a:rPr lang="en-US" dirty="0" err="1"/>
                        <a:t>Puddu</a:t>
                      </a:r>
                      <a:r>
                        <a:rPr lang="en-US" dirty="0"/>
                        <a:t> (except 13-14)</a:t>
                      </a:r>
                    </a:p>
                    <a:p>
                      <a:pPr marL="342900" indent="-342900">
                        <a:buFont typeface="+mj-lt"/>
                        <a:buAutoNum type="arabicPeriod"/>
                      </a:pPr>
                      <a:r>
                        <a:rPr lang="en-US" dirty="0"/>
                        <a:t>Rajasthan (except 12-13)</a:t>
                      </a:r>
                    </a:p>
                    <a:p>
                      <a:pPr marL="342900" indent="-342900">
                        <a:buFont typeface="+mj-lt"/>
                        <a:buAutoNum type="arabicPeriod"/>
                      </a:pPr>
                      <a:r>
                        <a:rPr lang="en-US" dirty="0"/>
                        <a:t>Tripura (except 13-14)</a:t>
                      </a:r>
                    </a:p>
                    <a:p>
                      <a:pPr marL="342900" indent="-342900">
                        <a:buFont typeface="+mj-lt"/>
                        <a:buAutoNum type="arabicPeriod"/>
                      </a:pPr>
                      <a:r>
                        <a:rPr lang="en-US" dirty="0"/>
                        <a:t>Up (except 13-14)</a:t>
                      </a:r>
                    </a:p>
                    <a:p>
                      <a:pPr marL="342900" indent="-342900">
                        <a:buFont typeface="+mj-lt"/>
                        <a:buAutoNum type="arabicPeriod"/>
                      </a:pPr>
                      <a:r>
                        <a:rPr lang="en-US" dirty="0" err="1"/>
                        <a:t>Uttrakhand</a:t>
                      </a:r>
                      <a:r>
                        <a:rPr lang="en-US" dirty="0"/>
                        <a:t> (except 14-15)</a:t>
                      </a:r>
                    </a:p>
                    <a:p>
                      <a:pPr marL="342900" indent="-342900">
                        <a:buFont typeface="+mj-lt"/>
                        <a:buAutoNum type="arabicPeriod"/>
                      </a:pPr>
                      <a:r>
                        <a:rPr lang="en-US" dirty="0"/>
                        <a:t>Up down</a:t>
                      </a:r>
                    </a:p>
                    <a:p>
                      <a:pPr marL="342900" indent="-342900">
                        <a:buFont typeface="+mj-lt"/>
                        <a:buAutoNum type="arabicPeriod"/>
                      </a:pPr>
                      <a:endParaRPr lang="en-US" dirty="0"/>
                    </a:p>
                  </a:txBody>
                  <a:tcPr/>
                </a:tc>
                <a:tc>
                  <a:txBody>
                    <a:bodyPr/>
                    <a:lstStyle/>
                    <a:p>
                      <a:pPr marL="342900" indent="-342900">
                        <a:buFont typeface="+mj-lt"/>
                        <a:buAutoNum type="arabicPeriod"/>
                      </a:pPr>
                      <a:r>
                        <a:rPr lang="en-US" dirty="0" err="1"/>
                        <a:t>Andman</a:t>
                      </a:r>
                      <a:r>
                        <a:rPr lang="en-US" dirty="0"/>
                        <a:t> &amp; Nico</a:t>
                      </a:r>
                    </a:p>
                    <a:p>
                      <a:pPr marL="342900" indent="-342900">
                        <a:buFont typeface="+mj-lt"/>
                        <a:buAutoNum type="arabicPeriod"/>
                      </a:pPr>
                      <a:r>
                        <a:rPr lang="en-US" dirty="0"/>
                        <a:t>Assam</a:t>
                      </a:r>
                    </a:p>
                    <a:p>
                      <a:pPr marL="342900" indent="-342900">
                        <a:buFont typeface="+mj-lt"/>
                        <a:buAutoNum type="arabicPeriod"/>
                      </a:pPr>
                      <a:r>
                        <a:rPr lang="en-US" dirty="0"/>
                        <a:t>Bihar</a:t>
                      </a:r>
                    </a:p>
                    <a:p>
                      <a:pPr marL="342900" indent="-342900">
                        <a:buFont typeface="+mj-lt"/>
                        <a:buAutoNum type="arabicPeriod"/>
                      </a:pPr>
                      <a:r>
                        <a:rPr lang="en-US" dirty="0" err="1"/>
                        <a:t>Himchal</a:t>
                      </a:r>
                      <a:r>
                        <a:rPr lang="en-US" dirty="0"/>
                        <a:t> Pradesh</a:t>
                      </a:r>
                    </a:p>
                    <a:p>
                      <a:pPr marL="342900" indent="-342900">
                        <a:buFont typeface="+mj-lt"/>
                        <a:buAutoNum type="arabicPeriod"/>
                      </a:pPr>
                      <a:r>
                        <a:rPr lang="en-US" dirty="0"/>
                        <a:t>Jammu &amp; Kashmir</a:t>
                      </a:r>
                    </a:p>
                    <a:p>
                      <a:pPr marL="342900" indent="-342900">
                        <a:buFont typeface="+mj-lt"/>
                        <a:buAutoNum type="arabicPeriod"/>
                      </a:pPr>
                      <a:r>
                        <a:rPr lang="en-US" dirty="0"/>
                        <a:t>Jharkhand</a:t>
                      </a:r>
                    </a:p>
                    <a:p>
                      <a:pPr marL="342900" indent="-342900">
                        <a:buFont typeface="+mj-lt"/>
                        <a:buAutoNum type="arabicPeriod"/>
                      </a:pPr>
                      <a:r>
                        <a:rPr lang="en-US" dirty="0"/>
                        <a:t>Kerala</a:t>
                      </a:r>
                    </a:p>
                    <a:p>
                      <a:pPr marL="342900" indent="-342900">
                        <a:buFont typeface="+mj-lt"/>
                        <a:buAutoNum type="arabicPeriod"/>
                      </a:pPr>
                      <a:r>
                        <a:rPr lang="en-US" dirty="0"/>
                        <a:t>Madhya Pradesh</a:t>
                      </a:r>
                    </a:p>
                    <a:p>
                      <a:pPr marL="342900" indent="-342900">
                        <a:buFont typeface="+mj-lt"/>
                        <a:buAutoNum type="arabicPeriod"/>
                      </a:pPr>
                      <a:r>
                        <a:rPr lang="en-US" dirty="0" err="1"/>
                        <a:t>Maharastra</a:t>
                      </a:r>
                      <a:endParaRPr lang="en-US" dirty="0"/>
                    </a:p>
                    <a:p>
                      <a:pPr marL="342900" indent="-342900">
                        <a:buFont typeface="+mj-lt"/>
                        <a:buAutoNum type="arabicPeriod"/>
                      </a:pPr>
                      <a:r>
                        <a:rPr lang="en-US" dirty="0"/>
                        <a:t>Naga</a:t>
                      </a:r>
                    </a:p>
                    <a:p>
                      <a:pPr marL="342900" indent="-342900">
                        <a:buFont typeface="+mj-lt"/>
                        <a:buAutoNum type="arabicPeriod"/>
                      </a:pPr>
                      <a:r>
                        <a:rPr lang="en-US" dirty="0"/>
                        <a:t>Punjab</a:t>
                      </a:r>
                    </a:p>
                  </a:txBody>
                  <a:tcPr/>
                </a:tc>
                <a:tc>
                  <a:txBody>
                    <a:bodyPr/>
                    <a:lstStyle/>
                    <a:p>
                      <a:pPr marL="342900" indent="-342900">
                        <a:buFont typeface="+mj-lt"/>
                        <a:buAutoNum type="arabicPeriod"/>
                      </a:pPr>
                      <a:r>
                        <a:rPr lang="en-US" dirty="0"/>
                        <a:t>Chandigarh</a:t>
                      </a:r>
                    </a:p>
                    <a:p>
                      <a:pPr marL="342900" indent="-342900">
                        <a:buFont typeface="+mj-lt"/>
                        <a:buAutoNum type="arabicPeriod"/>
                      </a:pPr>
                      <a:r>
                        <a:rPr lang="en-US" dirty="0" err="1"/>
                        <a:t>Chattisgarh</a:t>
                      </a:r>
                      <a:endParaRPr lang="en-US" dirty="0"/>
                    </a:p>
                    <a:p>
                      <a:pPr marL="342900" indent="-342900">
                        <a:buFont typeface="+mj-lt"/>
                        <a:buAutoNum type="arabicPeriod"/>
                      </a:pPr>
                      <a:r>
                        <a:rPr lang="en-US" dirty="0"/>
                        <a:t>Gujarat</a:t>
                      </a:r>
                    </a:p>
                    <a:p>
                      <a:pPr marL="342900" indent="-342900">
                        <a:buFont typeface="+mj-lt"/>
                        <a:buAutoNum type="arabicPeriod"/>
                      </a:pPr>
                      <a:r>
                        <a:rPr lang="en-US" dirty="0"/>
                        <a:t>Haryana</a:t>
                      </a:r>
                    </a:p>
                    <a:p>
                      <a:pPr marL="342900" indent="-342900">
                        <a:buFont typeface="+mj-lt"/>
                        <a:buAutoNum type="arabicPeriod"/>
                      </a:pPr>
                      <a:r>
                        <a:rPr lang="en-US" dirty="0"/>
                        <a:t>Karnataka</a:t>
                      </a:r>
                    </a:p>
                    <a:p>
                      <a:pPr marL="342900" indent="-342900">
                        <a:buFont typeface="+mj-lt"/>
                        <a:buAutoNum type="arabicPeriod"/>
                      </a:pPr>
                      <a:r>
                        <a:rPr lang="en-US" dirty="0" err="1"/>
                        <a:t>Odisa</a:t>
                      </a:r>
                      <a:endParaRPr lang="en-US" dirty="0"/>
                    </a:p>
                    <a:p>
                      <a:pPr marL="342900" indent="-342900">
                        <a:buFont typeface="+mj-lt"/>
                        <a:buAutoNum type="arabicPeriod"/>
                      </a:pPr>
                      <a:r>
                        <a:rPr lang="en-US" dirty="0"/>
                        <a:t>Sikkim (</a:t>
                      </a:r>
                      <a:r>
                        <a:rPr lang="en-US" dirty="0" err="1"/>
                        <a:t>expcept</a:t>
                      </a:r>
                      <a:r>
                        <a:rPr lang="en-US" dirty="0"/>
                        <a:t> 13-14)</a:t>
                      </a:r>
                    </a:p>
                    <a:p>
                      <a:pPr marL="342900" indent="-342900">
                        <a:buFont typeface="+mj-lt"/>
                        <a:buAutoNum type="arabicPeriod"/>
                      </a:pPr>
                      <a:r>
                        <a:rPr lang="en-US" dirty="0"/>
                        <a:t>Tamil Nadu</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b="1" dirty="0"/>
                        <a:t>All India</a:t>
                      </a:r>
                    </a:p>
                    <a:p>
                      <a:pPr marL="342900" indent="-342900">
                        <a:buFont typeface="+mj-lt"/>
                        <a:buAutoNum type="arabicPeriod"/>
                      </a:pPr>
                      <a:endParaRPr lang="en-US" dirty="0"/>
                    </a:p>
                  </a:txBody>
                  <a:tcPr/>
                </a:tc>
                <a:extLst>
                  <a:ext uri="{0D108BD9-81ED-4DB2-BD59-A6C34878D82A}">
                    <a16:rowId xmlns:a16="http://schemas.microsoft.com/office/drawing/2014/main" val="3180293405"/>
                  </a:ext>
                </a:extLst>
              </a:tr>
            </a:tbl>
          </a:graphicData>
        </a:graphic>
      </p:graphicFrame>
      <p:sp>
        <p:nvSpPr>
          <p:cNvPr id="6" name="Text Placeholder 5">
            <a:extLst>
              <a:ext uri="{FF2B5EF4-FFF2-40B4-BE49-F238E27FC236}">
                <a16:creationId xmlns:a16="http://schemas.microsoft.com/office/drawing/2014/main" id="{8E6D97F7-1F17-434A-8BA4-627DEE366AF4}"/>
              </a:ext>
            </a:extLst>
          </p:cNvPr>
          <p:cNvSpPr>
            <a:spLocks noGrp="1"/>
          </p:cNvSpPr>
          <p:nvPr>
            <p:ph type="body" sz="quarter" idx="13"/>
          </p:nvPr>
        </p:nvSpPr>
        <p:spPr/>
        <p:txBody>
          <a:bodyPr/>
          <a:lstStyle/>
          <a:p>
            <a:r>
              <a:rPr lang="en-US" dirty="0"/>
              <a:t>Task 3</a:t>
            </a:r>
          </a:p>
        </p:txBody>
      </p:sp>
    </p:spTree>
    <p:extLst>
      <p:ext uri="{BB962C8B-B14F-4D97-AF65-F5344CB8AC3E}">
        <p14:creationId xmlns:p14="http://schemas.microsoft.com/office/powerpoint/2010/main" val="777698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0613F-75FA-4628-B97A-142209218F25}"/>
              </a:ext>
            </a:extLst>
          </p:cNvPr>
          <p:cNvSpPr>
            <a:spLocks noGrp="1"/>
          </p:cNvSpPr>
          <p:nvPr>
            <p:ph type="title"/>
          </p:nvPr>
        </p:nvSpPr>
        <p:spPr/>
        <p:txBody>
          <a:bodyPr>
            <a:noAutofit/>
          </a:bodyPr>
          <a:lstStyle/>
          <a:p>
            <a:r>
              <a:rPr lang="en-US" sz="2800" b="1" i="1" dirty="0"/>
              <a:t>Curiosity exercise</a:t>
            </a:r>
            <a:endParaRPr lang="en-US" sz="2800" dirty="0"/>
          </a:p>
        </p:txBody>
      </p:sp>
      <p:sp>
        <p:nvSpPr>
          <p:cNvPr id="3" name="Content Placeholder 2">
            <a:extLst>
              <a:ext uri="{FF2B5EF4-FFF2-40B4-BE49-F238E27FC236}">
                <a16:creationId xmlns:a16="http://schemas.microsoft.com/office/drawing/2014/main" id="{DDC2BD95-7572-459C-B66B-3EF01DA6EF49}"/>
              </a:ext>
            </a:extLst>
          </p:cNvPr>
          <p:cNvSpPr>
            <a:spLocks noGrp="1"/>
          </p:cNvSpPr>
          <p:nvPr>
            <p:ph idx="1"/>
          </p:nvPr>
        </p:nvSpPr>
        <p:spPr/>
        <p:txBody>
          <a:bodyPr/>
          <a:lstStyle/>
          <a:p>
            <a:r>
              <a:rPr lang="en-US" b="1" i="1" dirty="0"/>
              <a:t>My home state is </a:t>
            </a:r>
            <a:r>
              <a:rPr lang="en-US" b="1" i="1" dirty="0" err="1"/>
              <a:t>Uttrakhand</a:t>
            </a:r>
            <a:endParaRPr lang="en-US" b="1" i="1" dirty="0"/>
          </a:p>
          <a:p>
            <a:r>
              <a:rPr lang="en-US" b="1" i="1" dirty="0"/>
              <a:t>What has been the average growth rate of your home state : 11.80</a:t>
            </a:r>
          </a:p>
          <a:p>
            <a:r>
              <a:rPr lang="en-US" b="1" i="1" dirty="0"/>
              <a:t>How does it compare to the national average over this duration? </a:t>
            </a:r>
          </a:p>
          <a:p>
            <a:pPr lvl="1"/>
            <a:r>
              <a:rPr lang="en-US" b="1" i="1" dirty="0"/>
              <a:t>All India average growth is 11.20. My state is marginally better than national average</a:t>
            </a:r>
            <a:endParaRPr lang="en-US" dirty="0"/>
          </a:p>
        </p:txBody>
      </p:sp>
      <p:sp>
        <p:nvSpPr>
          <p:cNvPr id="4" name="Text Placeholder 3">
            <a:extLst>
              <a:ext uri="{FF2B5EF4-FFF2-40B4-BE49-F238E27FC236}">
                <a16:creationId xmlns:a16="http://schemas.microsoft.com/office/drawing/2014/main" id="{EE8E05CC-8931-49AC-9EC5-C88A939A57BF}"/>
              </a:ext>
            </a:extLst>
          </p:cNvPr>
          <p:cNvSpPr>
            <a:spLocks noGrp="1"/>
          </p:cNvSpPr>
          <p:nvPr>
            <p:ph type="body" sz="quarter" idx="13"/>
          </p:nvPr>
        </p:nvSpPr>
        <p:spPr/>
        <p:txBody>
          <a:bodyPr/>
          <a:lstStyle/>
          <a:p>
            <a:r>
              <a:rPr lang="en-US" dirty="0"/>
              <a:t>Task 4</a:t>
            </a:r>
          </a:p>
        </p:txBody>
      </p:sp>
    </p:spTree>
    <p:extLst>
      <p:ext uri="{BB962C8B-B14F-4D97-AF65-F5344CB8AC3E}">
        <p14:creationId xmlns:p14="http://schemas.microsoft.com/office/powerpoint/2010/main" val="3495217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2" name="Picture 10">
            <a:extLst>
              <a:ext uri="{FF2B5EF4-FFF2-40B4-BE49-F238E27FC236}">
                <a16:creationId xmlns:a16="http://schemas.microsoft.com/office/drawing/2014/main" id="{BF62A7CF-FF3D-42E4-AA5C-CD6B08930B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7868" y="980407"/>
            <a:ext cx="10724189" cy="55449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BBB1C7E-F133-4F9B-AF3E-29D8CFC276A3}"/>
              </a:ext>
            </a:extLst>
          </p:cNvPr>
          <p:cNvSpPr>
            <a:spLocks noGrp="1"/>
          </p:cNvSpPr>
          <p:nvPr>
            <p:ph type="title"/>
          </p:nvPr>
        </p:nvSpPr>
        <p:spPr/>
        <p:txBody>
          <a:bodyPr>
            <a:normAutofit fontScale="90000"/>
          </a:bodyPr>
          <a:lstStyle/>
          <a:p>
            <a:r>
              <a:rPr lang="en-US" b="1" i="1" dirty="0"/>
              <a:t>Plot the total GDP of the states for the year 2015-16</a:t>
            </a:r>
            <a:endParaRPr lang="en-US" dirty="0"/>
          </a:p>
        </p:txBody>
      </p:sp>
      <p:sp>
        <p:nvSpPr>
          <p:cNvPr id="3" name="Text Placeholder 2">
            <a:extLst>
              <a:ext uri="{FF2B5EF4-FFF2-40B4-BE49-F238E27FC236}">
                <a16:creationId xmlns:a16="http://schemas.microsoft.com/office/drawing/2014/main" id="{4A402108-94E2-4443-BEA6-2FD0AF24461B}"/>
              </a:ext>
            </a:extLst>
          </p:cNvPr>
          <p:cNvSpPr>
            <a:spLocks noGrp="1"/>
          </p:cNvSpPr>
          <p:nvPr>
            <p:ph type="body" sz="quarter" idx="13"/>
          </p:nvPr>
        </p:nvSpPr>
        <p:spPr/>
        <p:txBody>
          <a:bodyPr/>
          <a:lstStyle/>
          <a:p>
            <a:r>
              <a:rPr lang="en-US" dirty="0"/>
              <a:t>Task 5</a:t>
            </a:r>
          </a:p>
        </p:txBody>
      </p:sp>
    </p:spTree>
    <p:extLst>
      <p:ext uri="{BB962C8B-B14F-4D97-AF65-F5344CB8AC3E}">
        <p14:creationId xmlns:p14="http://schemas.microsoft.com/office/powerpoint/2010/main" val="2628838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C53A6-F484-4AC1-9A92-979D33D17A39}"/>
              </a:ext>
            </a:extLst>
          </p:cNvPr>
          <p:cNvSpPr>
            <a:spLocks noGrp="1"/>
          </p:cNvSpPr>
          <p:nvPr>
            <p:ph type="title"/>
          </p:nvPr>
        </p:nvSpPr>
        <p:spPr/>
        <p:txBody>
          <a:bodyPr>
            <a:noAutofit/>
          </a:bodyPr>
          <a:lstStyle/>
          <a:p>
            <a:r>
              <a:rPr lang="en-US" sz="2800" b="1" i="1" dirty="0"/>
              <a:t>Identify the top-5 and the bottom-5 states based on total GDP</a:t>
            </a:r>
            <a:endParaRPr lang="en-US" sz="2800" dirty="0"/>
          </a:p>
        </p:txBody>
      </p:sp>
      <p:sp>
        <p:nvSpPr>
          <p:cNvPr id="3" name="Text Placeholder 2">
            <a:extLst>
              <a:ext uri="{FF2B5EF4-FFF2-40B4-BE49-F238E27FC236}">
                <a16:creationId xmlns:a16="http://schemas.microsoft.com/office/drawing/2014/main" id="{54A71574-1617-4BF6-9133-E0FA29CD7174}"/>
              </a:ext>
            </a:extLst>
          </p:cNvPr>
          <p:cNvSpPr>
            <a:spLocks noGrp="1"/>
          </p:cNvSpPr>
          <p:nvPr>
            <p:ph type="body" sz="quarter" idx="13"/>
          </p:nvPr>
        </p:nvSpPr>
        <p:spPr/>
        <p:txBody>
          <a:bodyPr/>
          <a:lstStyle/>
          <a:p>
            <a:r>
              <a:rPr lang="en-US" dirty="0"/>
              <a:t>Task 6</a:t>
            </a:r>
          </a:p>
        </p:txBody>
      </p:sp>
      <p:sp>
        <p:nvSpPr>
          <p:cNvPr id="6" name="TextBox 5">
            <a:extLst>
              <a:ext uri="{FF2B5EF4-FFF2-40B4-BE49-F238E27FC236}">
                <a16:creationId xmlns:a16="http://schemas.microsoft.com/office/drawing/2014/main" id="{E5B0CACA-73B1-4A81-A878-C1846F3C1445}"/>
              </a:ext>
            </a:extLst>
          </p:cNvPr>
          <p:cNvSpPr txBox="1"/>
          <p:nvPr/>
        </p:nvSpPr>
        <p:spPr>
          <a:xfrm>
            <a:off x="1197868" y="847137"/>
            <a:ext cx="8241872" cy="400110"/>
          </a:xfrm>
          <a:prstGeom prst="rect">
            <a:avLst/>
          </a:prstGeom>
          <a:solidFill>
            <a:srgbClr val="00B050"/>
          </a:solidFill>
          <a:ln>
            <a:solidFill>
              <a:schemeClr val="accent4"/>
            </a:solidFill>
          </a:ln>
        </p:spPr>
        <p:txBody>
          <a:bodyPr wrap="none" rtlCol="0" anchor="ctr" anchorCtr="1">
            <a:spAutoFit/>
          </a:bodyPr>
          <a:lstStyle/>
          <a:p>
            <a:r>
              <a:rPr lang="en-US" sz="2000" b="1" dirty="0">
                <a:solidFill>
                  <a:schemeClr val="bg1"/>
                </a:solidFill>
              </a:rPr>
              <a:t>All bottom 5 </a:t>
            </a:r>
            <a:r>
              <a:rPr lang="en-US" dirty="0">
                <a:solidFill>
                  <a:schemeClr val="bg1"/>
                </a:solidFill>
              </a:rPr>
              <a:t>states are very small states. Except A&amp;N Island all the NE States</a:t>
            </a:r>
          </a:p>
        </p:txBody>
      </p:sp>
      <p:pic>
        <p:nvPicPr>
          <p:cNvPr id="4100" name="Picture 4">
            <a:extLst>
              <a:ext uri="{FF2B5EF4-FFF2-40B4-BE49-F238E27FC236}">
                <a16:creationId xmlns:a16="http://schemas.microsoft.com/office/drawing/2014/main" id="{3ABA4785-6977-4457-BB24-4E082063C0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4621" y="1412776"/>
            <a:ext cx="10402399" cy="5040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6060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B75FB69-F80B-4582-B973-F37B64BD5C0A}"/>
              </a:ext>
            </a:extLst>
          </p:cNvPr>
          <p:cNvSpPr>
            <a:spLocks noGrp="1"/>
          </p:cNvSpPr>
          <p:nvPr>
            <p:ph type="title"/>
          </p:nvPr>
        </p:nvSpPr>
        <p:spPr/>
        <p:txBody>
          <a:bodyPr/>
          <a:lstStyle/>
          <a:p>
            <a:r>
              <a:rPr lang="en-US" b="1" dirty="0"/>
              <a:t>Part IB: GDP Analysis of Indian States</a:t>
            </a:r>
          </a:p>
        </p:txBody>
      </p:sp>
      <p:sp>
        <p:nvSpPr>
          <p:cNvPr id="6" name="Text Placeholder 5">
            <a:extLst>
              <a:ext uri="{FF2B5EF4-FFF2-40B4-BE49-F238E27FC236}">
                <a16:creationId xmlns:a16="http://schemas.microsoft.com/office/drawing/2014/main" id="{5BCF5D31-776C-4791-8625-889CAFC27F4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70520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CAE062-A164-411A-AE9F-B74C73CFAA03}"/>
              </a:ext>
            </a:extLst>
          </p:cNvPr>
          <p:cNvSpPr>
            <a:spLocks noGrp="1"/>
          </p:cNvSpPr>
          <p:nvPr>
            <p:ph type="title"/>
          </p:nvPr>
        </p:nvSpPr>
        <p:spPr/>
        <p:txBody>
          <a:bodyPr/>
          <a:lstStyle/>
          <a:p>
            <a:r>
              <a:rPr lang="en-US" dirty="0"/>
              <a:t>Guidelines from IIITB</a:t>
            </a:r>
          </a:p>
        </p:txBody>
      </p:sp>
      <p:sp>
        <p:nvSpPr>
          <p:cNvPr id="5" name="Content Placeholder 4">
            <a:extLst>
              <a:ext uri="{FF2B5EF4-FFF2-40B4-BE49-F238E27FC236}">
                <a16:creationId xmlns:a16="http://schemas.microsoft.com/office/drawing/2014/main" id="{18421250-C599-4E95-A49A-21B2FEC24785}"/>
              </a:ext>
            </a:extLst>
          </p:cNvPr>
          <p:cNvSpPr>
            <a:spLocks noGrp="1"/>
          </p:cNvSpPr>
          <p:nvPr>
            <p:ph idx="1"/>
          </p:nvPr>
        </p:nvSpPr>
        <p:spPr/>
        <p:txBody>
          <a:bodyPr/>
          <a:lstStyle/>
          <a:p>
            <a:r>
              <a:rPr lang="en-US" b="1" i="1" dirty="0"/>
              <a:t>Task1: Perform the analysis only for the duration : 2014-15.</a:t>
            </a:r>
          </a:p>
          <a:p>
            <a:r>
              <a:rPr lang="en-US" b="1" i="1" dirty="0"/>
              <a:t>Task2: Filter out the Union Territories (Delhi, Chandigarh, Andaman and Nicobar Islands etc.) for further analysis since they are governed directly by the </a:t>
            </a:r>
            <a:r>
              <a:rPr lang="en-US" b="1" i="1" dirty="0" err="1"/>
              <a:t>centre</a:t>
            </a:r>
            <a:r>
              <a:rPr lang="en-US" b="1" i="1" dirty="0"/>
              <a:t>, not state governments.</a:t>
            </a:r>
          </a:p>
        </p:txBody>
      </p:sp>
      <p:sp>
        <p:nvSpPr>
          <p:cNvPr id="6" name="Text Placeholder 5">
            <a:extLst>
              <a:ext uri="{FF2B5EF4-FFF2-40B4-BE49-F238E27FC236}">
                <a16:creationId xmlns:a16="http://schemas.microsoft.com/office/drawing/2014/main" id="{9C67E867-0652-45BE-83B9-97A6138D86FD}"/>
              </a:ext>
            </a:extLst>
          </p:cNvPr>
          <p:cNvSpPr>
            <a:spLocks noGrp="1"/>
          </p:cNvSpPr>
          <p:nvPr>
            <p:ph type="body" sz="quarter" idx="13"/>
          </p:nvPr>
        </p:nvSpPr>
        <p:spPr/>
        <p:txBody>
          <a:bodyPr/>
          <a:lstStyle/>
          <a:p>
            <a:endParaRPr lang="en-US" dirty="0"/>
          </a:p>
        </p:txBody>
      </p:sp>
    </p:spTree>
    <p:extLst>
      <p:ext uri="{BB962C8B-B14F-4D97-AF65-F5344CB8AC3E}">
        <p14:creationId xmlns:p14="http://schemas.microsoft.com/office/powerpoint/2010/main" val="2426426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a:extLst>
              <a:ext uri="{FF2B5EF4-FFF2-40B4-BE49-F238E27FC236}">
                <a16:creationId xmlns:a16="http://schemas.microsoft.com/office/drawing/2014/main" id="{CDF49A83-3578-4868-9F7C-99FA05D41B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828" y="1052736"/>
            <a:ext cx="10945552" cy="54006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a:extLst>
              <a:ext uri="{FF2B5EF4-FFF2-40B4-BE49-F238E27FC236}">
                <a16:creationId xmlns:a16="http://schemas.microsoft.com/office/drawing/2014/main" id="{DC589758-D6FD-44E8-97A3-901BE4A9911E}"/>
              </a:ext>
            </a:extLst>
          </p:cNvPr>
          <p:cNvSpPr>
            <a:spLocks noGrp="1"/>
          </p:cNvSpPr>
          <p:nvPr>
            <p:ph type="title"/>
          </p:nvPr>
        </p:nvSpPr>
        <p:spPr/>
        <p:txBody>
          <a:bodyPr/>
          <a:lstStyle/>
          <a:p>
            <a:r>
              <a:rPr lang="en-US" dirty="0"/>
              <a:t>Population</a:t>
            </a:r>
          </a:p>
        </p:txBody>
      </p:sp>
      <p:sp>
        <p:nvSpPr>
          <p:cNvPr id="6" name="Text Placeholder 5">
            <a:extLst>
              <a:ext uri="{FF2B5EF4-FFF2-40B4-BE49-F238E27FC236}">
                <a16:creationId xmlns:a16="http://schemas.microsoft.com/office/drawing/2014/main" id="{846F1A05-212B-4C03-9966-6BF87828617E}"/>
              </a:ext>
            </a:extLst>
          </p:cNvPr>
          <p:cNvSpPr>
            <a:spLocks noGrp="1"/>
          </p:cNvSpPr>
          <p:nvPr>
            <p:ph type="body" sz="quarter" idx="13"/>
          </p:nvPr>
        </p:nvSpPr>
        <p:spPr/>
        <p:txBody>
          <a:bodyPr/>
          <a:lstStyle/>
          <a:p>
            <a:r>
              <a:rPr lang="en-US" dirty="0"/>
              <a:t>Insight</a:t>
            </a:r>
          </a:p>
        </p:txBody>
      </p:sp>
      <p:sp>
        <p:nvSpPr>
          <p:cNvPr id="7" name="TextBox 6">
            <a:extLst>
              <a:ext uri="{FF2B5EF4-FFF2-40B4-BE49-F238E27FC236}">
                <a16:creationId xmlns:a16="http://schemas.microsoft.com/office/drawing/2014/main" id="{69F9C299-B22E-4AD5-98D8-C134EF8F3D3D}"/>
              </a:ext>
            </a:extLst>
          </p:cNvPr>
          <p:cNvSpPr txBox="1"/>
          <p:nvPr/>
        </p:nvSpPr>
        <p:spPr>
          <a:xfrm>
            <a:off x="1845941" y="1809983"/>
            <a:ext cx="3744415" cy="861774"/>
          </a:xfrm>
          <a:prstGeom prst="rect">
            <a:avLst/>
          </a:prstGeom>
          <a:solidFill>
            <a:srgbClr val="00B050"/>
          </a:solidFill>
          <a:ln>
            <a:solidFill>
              <a:schemeClr val="accent4"/>
            </a:solidFill>
          </a:ln>
        </p:spPr>
        <p:txBody>
          <a:bodyPr wrap="square" rtlCol="0" anchor="ctr" anchorCtr="1">
            <a:spAutoFit/>
          </a:bodyPr>
          <a:lstStyle/>
          <a:p>
            <a:pPr algn="ctr"/>
            <a:r>
              <a:rPr lang="en-US" sz="3200" dirty="0">
                <a:solidFill>
                  <a:schemeClr val="bg1"/>
                </a:solidFill>
              </a:rPr>
              <a:t>58% </a:t>
            </a:r>
          </a:p>
          <a:p>
            <a:r>
              <a:rPr lang="en-US" dirty="0">
                <a:solidFill>
                  <a:schemeClr val="bg1"/>
                </a:solidFill>
              </a:rPr>
              <a:t>Population of India lives in 6 States</a:t>
            </a:r>
          </a:p>
        </p:txBody>
      </p:sp>
    </p:spTree>
    <p:extLst>
      <p:ext uri="{BB962C8B-B14F-4D97-AF65-F5344CB8AC3E}">
        <p14:creationId xmlns:p14="http://schemas.microsoft.com/office/powerpoint/2010/main" val="1252780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8" name="Picture 8">
            <a:extLst>
              <a:ext uri="{FF2B5EF4-FFF2-40B4-BE49-F238E27FC236}">
                <a16:creationId xmlns:a16="http://schemas.microsoft.com/office/drawing/2014/main" id="{5F386A4F-BBF1-4B08-9B58-B8FBB0D17D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036" y="908720"/>
            <a:ext cx="10772117" cy="568863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E53D68D-FF0A-47E2-833F-BA9661A0F120}"/>
              </a:ext>
            </a:extLst>
          </p:cNvPr>
          <p:cNvSpPr>
            <a:spLocks noGrp="1"/>
          </p:cNvSpPr>
          <p:nvPr>
            <p:ph type="title"/>
          </p:nvPr>
        </p:nvSpPr>
        <p:spPr/>
        <p:txBody>
          <a:bodyPr/>
          <a:lstStyle/>
          <a:p>
            <a:r>
              <a:rPr lang="en-US" b="1" i="1" dirty="0"/>
              <a:t>Plot the GDP per capita for all the states</a:t>
            </a:r>
            <a:endParaRPr lang="en-US" dirty="0"/>
          </a:p>
        </p:txBody>
      </p:sp>
      <p:sp>
        <p:nvSpPr>
          <p:cNvPr id="4" name="Text Placeholder 3">
            <a:extLst>
              <a:ext uri="{FF2B5EF4-FFF2-40B4-BE49-F238E27FC236}">
                <a16:creationId xmlns:a16="http://schemas.microsoft.com/office/drawing/2014/main" id="{75F7ACC1-CACE-44F0-BBB8-74F314117B22}"/>
              </a:ext>
            </a:extLst>
          </p:cNvPr>
          <p:cNvSpPr>
            <a:spLocks noGrp="1"/>
          </p:cNvSpPr>
          <p:nvPr>
            <p:ph type="body" sz="quarter" idx="13"/>
          </p:nvPr>
        </p:nvSpPr>
        <p:spPr/>
        <p:txBody>
          <a:bodyPr/>
          <a:lstStyle/>
          <a:p>
            <a:r>
              <a:rPr lang="en-US" dirty="0"/>
              <a:t>Task 3</a:t>
            </a:r>
          </a:p>
        </p:txBody>
      </p:sp>
      <p:sp>
        <p:nvSpPr>
          <p:cNvPr id="6" name="TextBox 5">
            <a:extLst>
              <a:ext uri="{FF2B5EF4-FFF2-40B4-BE49-F238E27FC236}">
                <a16:creationId xmlns:a16="http://schemas.microsoft.com/office/drawing/2014/main" id="{BE2ABCF2-93B6-4CDC-A7A8-0153E0FD7BF6}"/>
              </a:ext>
            </a:extLst>
          </p:cNvPr>
          <p:cNvSpPr txBox="1"/>
          <p:nvPr/>
        </p:nvSpPr>
        <p:spPr>
          <a:xfrm>
            <a:off x="4510236" y="1613118"/>
            <a:ext cx="2736303" cy="1077218"/>
          </a:xfrm>
          <a:prstGeom prst="rect">
            <a:avLst/>
          </a:prstGeom>
          <a:solidFill>
            <a:srgbClr val="00B050"/>
          </a:solidFill>
          <a:ln>
            <a:solidFill>
              <a:schemeClr val="accent4"/>
            </a:solidFill>
          </a:ln>
        </p:spPr>
        <p:txBody>
          <a:bodyPr wrap="square" rtlCol="0" anchor="ctr" anchorCtr="1">
            <a:spAutoFit/>
          </a:bodyPr>
          <a:lstStyle/>
          <a:p>
            <a:pPr algn="ctr"/>
            <a:r>
              <a:rPr lang="en-US" sz="3200" dirty="0">
                <a:solidFill>
                  <a:schemeClr val="bg1"/>
                </a:solidFill>
              </a:rPr>
              <a:t>1.15 Lakh </a:t>
            </a:r>
          </a:p>
          <a:p>
            <a:pPr algn="ctr"/>
            <a:r>
              <a:rPr lang="en-US" sz="1600" dirty="0">
                <a:solidFill>
                  <a:schemeClr val="bg1"/>
                </a:solidFill>
              </a:rPr>
              <a:t>National Average Per Capita GDP</a:t>
            </a:r>
          </a:p>
        </p:txBody>
      </p:sp>
      <p:sp>
        <p:nvSpPr>
          <p:cNvPr id="7" name="TextBox 6">
            <a:extLst>
              <a:ext uri="{FF2B5EF4-FFF2-40B4-BE49-F238E27FC236}">
                <a16:creationId xmlns:a16="http://schemas.microsoft.com/office/drawing/2014/main" id="{F05FFB3E-09B6-4367-AC43-FEA928873474}"/>
              </a:ext>
            </a:extLst>
          </p:cNvPr>
          <p:cNvSpPr txBox="1"/>
          <p:nvPr/>
        </p:nvSpPr>
        <p:spPr>
          <a:xfrm>
            <a:off x="1557908" y="1628507"/>
            <a:ext cx="2736303" cy="1015663"/>
          </a:xfrm>
          <a:prstGeom prst="rect">
            <a:avLst/>
          </a:prstGeom>
          <a:solidFill>
            <a:srgbClr val="00B050"/>
          </a:solidFill>
          <a:ln>
            <a:solidFill>
              <a:schemeClr val="accent4"/>
            </a:solidFill>
          </a:ln>
        </p:spPr>
        <p:txBody>
          <a:bodyPr wrap="square" rtlCol="0" anchor="ctr" anchorCtr="1">
            <a:spAutoFit/>
          </a:bodyPr>
          <a:lstStyle/>
          <a:p>
            <a:pPr algn="ctr"/>
            <a:r>
              <a:rPr lang="en-US" sz="3200" dirty="0">
                <a:solidFill>
                  <a:schemeClr val="bg1"/>
                </a:solidFill>
              </a:rPr>
              <a:t>55%</a:t>
            </a:r>
            <a:r>
              <a:rPr lang="en-US" sz="2400" dirty="0">
                <a:solidFill>
                  <a:schemeClr val="bg1"/>
                </a:solidFill>
              </a:rPr>
              <a:t> </a:t>
            </a:r>
          </a:p>
          <a:p>
            <a:pPr algn="ctr"/>
            <a:r>
              <a:rPr lang="en-US" sz="1400" dirty="0">
                <a:solidFill>
                  <a:schemeClr val="bg1"/>
                </a:solidFill>
              </a:rPr>
              <a:t>Of the States has Per Capita GDP less than National Average</a:t>
            </a:r>
          </a:p>
        </p:txBody>
      </p:sp>
      <p:sp>
        <p:nvSpPr>
          <p:cNvPr id="8" name="TextBox 7">
            <a:extLst>
              <a:ext uri="{FF2B5EF4-FFF2-40B4-BE49-F238E27FC236}">
                <a16:creationId xmlns:a16="http://schemas.microsoft.com/office/drawing/2014/main" id="{739F7039-23D4-45EB-8DA9-114ABC29A02F}"/>
              </a:ext>
            </a:extLst>
          </p:cNvPr>
          <p:cNvSpPr txBox="1"/>
          <p:nvPr/>
        </p:nvSpPr>
        <p:spPr>
          <a:xfrm>
            <a:off x="7534572" y="1628507"/>
            <a:ext cx="2257261" cy="1015663"/>
          </a:xfrm>
          <a:prstGeom prst="rect">
            <a:avLst/>
          </a:prstGeom>
          <a:solidFill>
            <a:srgbClr val="00B050"/>
          </a:solidFill>
          <a:ln>
            <a:solidFill>
              <a:schemeClr val="accent4"/>
            </a:solidFill>
          </a:ln>
        </p:spPr>
        <p:txBody>
          <a:bodyPr wrap="square" rtlCol="0" anchor="ctr" anchorCtr="1">
            <a:spAutoFit/>
          </a:bodyPr>
          <a:lstStyle/>
          <a:p>
            <a:pPr algn="ctr"/>
            <a:r>
              <a:rPr lang="en-US" sz="3200" dirty="0">
                <a:solidFill>
                  <a:schemeClr val="bg1"/>
                </a:solidFill>
              </a:rPr>
              <a:t>Bihar &amp; UP</a:t>
            </a:r>
            <a:r>
              <a:rPr lang="en-US" sz="2400" dirty="0">
                <a:solidFill>
                  <a:schemeClr val="bg1"/>
                </a:solidFill>
              </a:rPr>
              <a:t> </a:t>
            </a:r>
          </a:p>
          <a:p>
            <a:pPr algn="ctr"/>
            <a:r>
              <a:rPr lang="en-US" sz="1400" dirty="0">
                <a:solidFill>
                  <a:schemeClr val="bg1"/>
                </a:solidFill>
              </a:rPr>
              <a:t>2 large and </a:t>
            </a:r>
          </a:p>
          <a:p>
            <a:pPr algn="ctr"/>
            <a:r>
              <a:rPr lang="en-US" sz="1400" dirty="0">
                <a:solidFill>
                  <a:schemeClr val="bg1"/>
                </a:solidFill>
              </a:rPr>
              <a:t>poor states</a:t>
            </a:r>
          </a:p>
        </p:txBody>
      </p:sp>
    </p:spTree>
    <p:extLst>
      <p:ext uri="{BB962C8B-B14F-4D97-AF65-F5344CB8AC3E}">
        <p14:creationId xmlns:p14="http://schemas.microsoft.com/office/powerpoint/2010/main" val="15060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C5247-8BE5-4788-A739-0A0886AF7346}"/>
              </a:ext>
            </a:extLst>
          </p:cNvPr>
          <p:cNvSpPr>
            <a:spLocks noGrp="1"/>
          </p:cNvSpPr>
          <p:nvPr>
            <p:ph type="title"/>
          </p:nvPr>
        </p:nvSpPr>
        <p:spPr/>
        <p:txBody>
          <a:bodyPr>
            <a:noAutofit/>
          </a:bodyPr>
          <a:lstStyle/>
          <a:p>
            <a:r>
              <a:rPr lang="en-US" sz="2800" b="1" i="1" dirty="0"/>
              <a:t>Top-5 and Bottom-5 States based on GDP per capita.</a:t>
            </a:r>
            <a:endParaRPr lang="en-US" sz="2800" dirty="0"/>
          </a:p>
        </p:txBody>
      </p:sp>
      <p:sp>
        <p:nvSpPr>
          <p:cNvPr id="3" name="Text Placeholder 2">
            <a:extLst>
              <a:ext uri="{FF2B5EF4-FFF2-40B4-BE49-F238E27FC236}">
                <a16:creationId xmlns:a16="http://schemas.microsoft.com/office/drawing/2014/main" id="{39A86CAD-C44C-4386-A7C6-66D57533F82D}"/>
              </a:ext>
            </a:extLst>
          </p:cNvPr>
          <p:cNvSpPr>
            <a:spLocks noGrp="1"/>
          </p:cNvSpPr>
          <p:nvPr>
            <p:ph type="body" sz="quarter" idx="13"/>
          </p:nvPr>
        </p:nvSpPr>
        <p:spPr/>
        <p:txBody>
          <a:bodyPr/>
          <a:lstStyle/>
          <a:p>
            <a:r>
              <a:rPr lang="en-US" dirty="0"/>
              <a:t>Task 4</a:t>
            </a:r>
          </a:p>
        </p:txBody>
      </p:sp>
      <p:pic>
        <p:nvPicPr>
          <p:cNvPr id="7172" name="Picture 4">
            <a:extLst>
              <a:ext uri="{FF2B5EF4-FFF2-40B4-BE49-F238E27FC236}">
                <a16:creationId xmlns:a16="http://schemas.microsoft.com/office/drawing/2014/main" id="{DFCF51BD-0B4E-4212-8610-495B795CCC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952" y="980728"/>
            <a:ext cx="11490100" cy="47525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507B06E-58EB-406F-9D7C-0B2362C6948D}"/>
              </a:ext>
            </a:extLst>
          </p:cNvPr>
          <p:cNvSpPr txBox="1"/>
          <p:nvPr/>
        </p:nvSpPr>
        <p:spPr>
          <a:xfrm>
            <a:off x="5446340" y="5421852"/>
            <a:ext cx="2736303" cy="1138773"/>
          </a:xfrm>
          <a:prstGeom prst="rect">
            <a:avLst/>
          </a:prstGeom>
          <a:solidFill>
            <a:srgbClr val="00B050"/>
          </a:solidFill>
          <a:ln>
            <a:solidFill>
              <a:schemeClr val="accent4"/>
            </a:solidFill>
          </a:ln>
        </p:spPr>
        <p:txBody>
          <a:bodyPr wrap="square" rtlCol="0" anchor="ctr" anchorCtr="1">
            <a:spAutoFit/>
          </a:bodyPr>
          <a:lstStyle/>
          <a:p>
            <a:pPr algn="ctr"/>
            <a:r>
              <a:rPr lang="en-US" sz="1600" b="1" dirty="0">
                <a:solidFill>
                  <a:schemeClr val="bg1"/>
                </a:solidFill>
              </a:rPr>
              <a:t>Lessor</a:t>
            </a:r>
            <a:r>
              <a:rPr lang="en-US" sz="2000" dirty="0">
                <a:solidFill>
                  <a:schemeClr val="bg1"/>
                </a:solidFill>
              </a:rPr>
              <a:t> the Population </a:t>
            </a:r>
            <a:r>
              <a:rPr lang="en-US" sz="2800" b="1" dirty="0">
                <a:solidFill>
                  <a:schemeClr val="bg1"/>
                </a:solidFill>
              </a:rPr>
              <a:t>Higher</a:t>
            </a:r>
            <a:r>
              <a:rPr lang="en-US" sz="2000" dirty="0">
                <a:solidFill>
                  <a:schemeClr val="bg1"/>
                </a:solidFill>
              </a:rPr>
              <a:t> the Per Capita GDP</a:t>
            </a:r>
            <a:endParaRPr lang="en-US" sz="1200" dirty="0">
              <a:solidFill>
                <a:schemeClr val="bg1"/>
              </a:solidFill>
            </a:endParaRPr>
          </a:p>
        </p:txBody>
      </p:sp>
    </p:spTree>
    <p:extLst>
      <p:ext uri="{BB962C8B-B14F-4D97-AF65-F5344CB8AC3E}">
        <p14:creationId xmlns:p14="http://schemas.microsoft.com/office/powerpoint/2010/main" val="1641465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21A3E-15A5-4CFC-BE14-E2CDCE0FC0A3}"/>
              </a:ext>
            </a:extLst>
          </p:cNvPr>
          <p:cNvSpPr>
            <a:spLocks noGrp="1"/>
          </p:cNvSpPr>
          <p:nvPr>
            <p:ph type="title"/>
          </p:nvPr>
        </p:nvSpPr>
        <p:spPr/>
        <p:txBody>
          <a:bodyPr>
            <a:noAutofit/>
          </a:bodyPr>
          <a:lstStyle/>
          <a:p>
            <a:r>
              <a:rPr lang="en-US" sz="2800" b="1" i="1" dirty="0"/>
              <a:t>Highest per capita GDP to the Lowest per capita GDP Ratio</a:t>
            </a:r>
            <a:endParaRPr lang="en-US" sz="2800" dirty="0"/>
          </a:p>
        </p:txBody>
      </p:sp>
      <p:sp>
        <p:nvSpPr>
          <p:cNvPr id="4" name="Content Placeholder 3">
            <a:extLst>
              <a:ext uri="{FF2B5EF4-FFF2-40B4-BE49-F238E27FC236}">
                <a16:creationId xmlns:a16="http://schemas.microsoft.com/office/drawing/2014/main" id="{3DF6752A-3427-48D2-870E-7057C525F03A}"/>
              </a:ext>
            </a:extLst>
          </p:cNvPr>
          <p:cNvSpPr>
            <a:spLocks noGrp="1"/>
          </p:cNvSpPr>
          <p:nvPr>
            <p:ph idx="1"/>
          </p:nvPr>
        </p:nvSpPr>
        <p:spPr/>
        <p:txBody>
          <a:bodyPr/>
          <a:lstStyle/>
          <a:p>
            <a:r>
              <a:rPr lang="en-US" dirty="0"/>
              <a:t>Max Per Capita Income is  271793.0 (Goa)</a:t>
            </a:r>
          </a:p>
          <a:p>
            <a:r>
              <a:rPr lang="en-US" dirty="0"/>
              <a:t>Min Per Capita Income is  33954.0 (Bihar)</a:t>
            </a:r>
          </a:p>
          <a:p>
            <a:r>
              <a:rPr lang="en-US" dirty="0"/>
              <a:t>Ratio of Max/Min Per Capita Income is 8.0</a:t>
            </a:r>
          </a:p>
        </p:txBody>
      </p:sp>
      <p:sp>
        <p:nvSpPr>
          <p:cNvPr id="3" name="Text Placeholder 2">
            <a:extLst>
              <a:ext uri="{FF2B5EF4-FFF2-40B4-BE49-F238E27FC236}">
                <a16:creationId xmlns:a16="http://schemas.microsoft.com/office/drawing/2014/main" id="{C7A0A60D-F5AA-40EE-8C59-8E9B66EC4719}"/>
              </a:ext>
            </a:extLst>
          </p:cNvPr>
          <p:cNvSpPr>
            <a:spLocks noGrp="1"/>
          </p:cNvSpPr>
          <p:nvPr>
            <p:ph type="body" sz="quarter" idx="13"/>
          </p:nvPr>
        </p:nvSpPr>
        <p:spPr/>
        <p:txBody>
          <a:bodyPr/>
          <a:lstStyle/>
          <a:p>
            <a:r>
              <a:rPr lang="en-US" dirty="0"/>
              <a:t>Task 5</a:t>
            </a:r>
          </a:p>
        </p:txBody>
      </p:sp>
    </p:spTree>
    <p:extLst>
      <p:ext uri="{BB962C8B-B14F-4D97-AF65-F5344CB8AC3E}">
        <p14:creationId xmlns:p14="http://schemas.microsoft.com/office/powerpoint/2010/main" val="1052421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0954E-1E84-4F79-B467-A8AB72FB5633}"/>
              </a:ext>
            </a:extLst>
          </p:cNvPr>
          <p:cNvSpPr>
            <a:spLocks noGrp="1"/>
          </p:cNvSpPr>
          <p:nvPr>
            <p:ph type="title"/>
          </p:nvPr>
        </p:nvSpPr>
        <p:spPr/>
        <p:txBody>
          <a:bodyPr>
            <a:noAutofit/>
          </a:bodyPr>
          <a:lstStyle/>
          <a:p>
            <a:r>
              <a:rPr lang="en-US" sz="2400" b="1" i="1" dirty="0"/>
              <a:t>% Contribution of primary, secondary and tertiary sectors as a percentage of total GDP for all the states.</a:t>
            </a:r>
            <a:endParaRPr lang="en-US" sz="2400" dirty="0"/>
          </a:p>
        </p:txBody>
      </p:sp>
      <p:sp>
        <p:nvSpPr>
          <p:cNvPr id="5" name="Text Placeholder 4">
            <a:extLst>
              <a:ext uri="{FF2B5EF4-FFF2-40B4-BE49-F238E27FC236}">
                <a16:creationId xmlns:a16="http://schemas.microsoft.com/office/drawing/2014/main" id="{BE1E4C07-A42D-4700-ACE0-D9F189EA2E8C}"/>
              </a:ext>
            </a:extLst>
          </p:cNvPr>
          <p:cNvSpPr>
            <a:spLocks noGrp="1"/>
          </p:cNvSpPr>
          <p:nvPr>
            <p:ph type="body" sz="quarter" idx="13"/>
          </p:nvPr>
        </p:nvSpPr>
        <p:spPr/>
        <p:txBody>
          <a:bodyPr/>
          <a:lstStyle/>
          <a:p>
            <a:r>
              <a:rPr lang="en-US" dirty="0"/>
              <a:t>Task 6</a:t>
            </a:r>
          </a:p>
        </p:txBody>
      </p:sp>
      <p:sp>
        <p:nvSpPr>
          <p:cNvPr id="7" name="TextBox 6">
            <a:extLst>
              <a:ext uri="{FF2B5EF4-FFF2-40B4-BE49-F238E27FC236}">
                <a16:creationId xmlns:a16="http://schemas.microsoft.com/office/drawing/2014/main" id="{BB29F1E3-851E-40E0-AC01-91E38AB3CB2B}"/>
              </a:ext>
            </a:extLst>
          </p:cNvPr>
          <p:cNvSpPr txBox="1"/>
          <p:nvPr/>
        </p:nvSpPr>
        <p:spPr>
          <a:xfrm>
            <a:off x="8993608" y="5517232"/>
            <a:ext cx="2871961" cy="1231106"/>
          </a:xfrm>
          <a:prstGeom prst="rect">
            <a:avLst/>
          </a:prstGeom>
          <a:solidFill>
            <a:srgbClr val="FF0000"/>
          </a:solidFill>
          <a:ln>
            <a:solidFill>
              <a:schemeClr val="accent4"/>
            </a:solidFill>
          </a:ln>
        </p:spPr>
        <p:txBody>
          <a:bodyPr wrap="square" rtlCol="0" anchor="ctr" anchorCtr="1">
            <a:spAutoFit/>
          </a:bodyPr>
          <a:lstStyle/>
          <a:p>
            <a:pPr algn="ctr"/>
            <a:r>
              <a:rPr lang="en-US" sz="2400" dirty="0">
                <a:solidFill>
                  <a:schemeClr val="bg1"/>
                </a:solidFill>
              </a:rPr>
              <a:t>Top 5 </a:t>
            </a:r>
          </a:p>
          <a:p>
            <a:pPr algn="ctr"/>
            <a:r>
              <a:rPr lang="en-US" dirty="0">
                <a:solidFill>
                  <a:schemeClr val="bg1"/>
                </a:solidFill>
              </a:rPr>
              <a:t>Tertiary Industry States</a:t>
            </a:r>
          </a:p>
          <a:p>
            <a:pPr algn="ctr"/>
            <a:r>
              <a:rPr lang="en-US" sz="1600" dirty="0">
                <a:solidFill>
                  <a:schemeClr val="bg1"/>
                </a:solidFill>
              </a:rPr>
              <a:t>Manipur, Bihar, Telangana, Kerala, Karnataka</a:t>
            </a:r>
            <a:endParaRPr lang="en-US" sz="1050" dirty="0">
              <a:solidFill>
                <a:schemeClr val="bg1"/>
              </a:solidFill>
            </a:endParaRPr>
          </a:p>
        </p:txBody>
      </p:sp>
      <p:sp>
        <p:nvSpPr>
          <p:cNvPr id="8" name="TextBox 7">
            <a:extLst>
              <a:ext uri="{FF2B5EF4-FFF2-40B4-BE49-F238E27FC236}">
                <a16:creationId xmlns:a16="http://schemas.microsoft.com/office/drawing/2014/main" id="{29E4E555-C627-42AF-8F77-B2AFCB3A6543}"/>
              </a:ext>
            </a:extLst>
          </p:cNvPr>
          <p:cNvSpPr txBox="1"/>
          <p:nvPr/>
        </p:nvSpPr>
        <p:spPr>
          <a:xfrm>
            <a:off x="738587" y="5517232"/>
            <a:ext cx="2871961" cy="1231106"/>
          </a:xfrm>
          <a:prstGeom prst="rect">
            <a:avLst/>
          </a:prstGeom>
          <a:solidFill>
            <a:srgbClr val="002060"/>
          </a:solidFill>
          <a:ln>
            <a:solidFill>
              <a:schemeClr val="accent4"/>
            </a:solidFill>
          </a:ln>
        </p:spPr>
        <p:txBody>
          <a:bodyPr wrap="square" rtlCol="0" anchor="ctr" anchorCtr="1">
            <a:spAutoFit/>
          </a:bodyPr>
          <a:lstStyle/>
          <a:p>
            <a:pPr algn="ctr"/>
            <a:r>
              <a:rPr lang="en-US" sz="2400" dirty="0">
                <a:solidFill>
                  <a:schemeClr val="bg1"/>
                </a:solidFill>
              </a:rPr>
              <a:t>Top 5 </a:t>
            </a:r>
          </a:p>
          <a:p>
            <a:pPr algn="ctr"/>
            <a:r>
              <a:rPr lang="en-US" dirty="0">
                <a:solidFill>
                  <a:schemeClr val="bg1"/>
                </a:solidFill>
              </a:rPr>
              <a:t>Primary Industry States</a:t>
            </a:r>
          </a:p>
          <a:p>
            <a:pPr algn="ctr"/>
            <a:r>
              <a:rPr lang="en-US" sz="1600" dirty="0" err="1">
                <a:solidFill>
                  <a:schemeClr val="bg1"/>
                </a:solidFill>
              </a:rPr>
              <a:t>Arunanachal</a:t>
            </a:r>
            <a:r>
              <a:rPr lang="en-US" sz="1600" dirty="0">
                <a:solidFill>
                  <a:schemeClr val="bg1"/>
                </a:solidFill>
              </a:rPr>
              <a:t>, MP, Nagaland, Tripura, Rajasthan</a:t>
            </a:r>
            <a:endParaRPr lang="en-US" sz="1050" dirty="0">
              <a:solidFill>
                <a:schemeClr val="bg1"/>
              </a:solidFill>
            </a:endParaRPr>
          </a:p>
        </p:txBody>
      </p:sp>
      <p:sp>
        <p:nvSpPr>
          <p:cNvPr id="9" name="TextBox 8">
            <a:extLst>
              <a:ext uri="{FF2B5EF4-FFF2-40B4-BE49-F238E27FC236}">
                <a16:creationId xmlns:a16="http://schemas.microsoft.com/office/drawing/2014/main" id="{320319A6-A9CB-4603-BAAC-D4487C47B9F8}"/>
              </a:ext>
            </a:extLst>
          </p:cNvPr>
          <p:cNvSpPr txBox="1"/>
          <p:nvPr/>
        </p:nvSpPr>
        <p:spPr>
          <a:xfrm>
            <a:off x="4798268" y="5517232"/>
            <a:ext cx="2871961" cy="1231106"/>
          </a:xfrm>
          <a:prstGeom prst="rect">
            <a:avLst/>
          </a:prstGeom>
          <a:solidFill>
            <a:srgbClr val="00B050"/>
          </a:solidFill>
          <a:ln>
            <a:solidFill>
              <a:schemeClr val="accent4"/>
            </a:solidFill>
          </a:ln>
        </p:spPr>
        <p:txBody>
          <a:bodyPr wrap="square" rtlCol="0" anchor="ctr" anchorCtr="1">
            <a:spAutoFit/>
          </a:bodyPr>
          <a:lstStyle/>
          <a:p>
            <a:pPr algn="ctr"/>
            <a:r>
              <a:rPr lang="en-US" sz="2400" dirty="0">
                <a:solidFill>
                  <a:schemeClr val="bg1"/>
                </a:solidFill>
              </a:rPr>
              <a:t>Top 5 </a:t>
            </a:r>
          </a:p>
          <a:p>
            <a:pPr algn="ctr"/>
            <a:r>
              <a:rPr lang="en-US" dirty="0">
                <a:solidFill>
                  <a:schemeClr val="bg1"/>
                </a:solidFill>
              </a:rPr>
              <a:t>Secondary Industry States</a:t>
            </a:r>
          </a:p>
          <a:p>
            <a:pPr algn="ctr"/>
            <a:r>
              <a:rPr lang="en-US" sz="1600" dirty="0">
                <a:solidFill>
                  <a:schemeClr val="bg1"/>
                </a:solidFill>
              </a:rPr>
              <a:t>Sikkim, </a:t>
            </a:r>
            <a:r>
              <a:rPr lang="en-US" sz="1600" dirty="0" err="1">
                <a:solidFill>
                  <a:schemeClr val="bg1"/>
                </a:solidFill>
              </a:rPr>
              <a:t>Uttrakhand</a:t>
            </a:r>
            <a:r>
              <a:rPr lang="en-US" sz="1600" dirty="0">
                <a:solidFill>
                  <a:schemeClr val="bg1"/>
                </a:solidFill>
              </a:rPr>
              <a:t>, HP, Goa, Gujarat</a:t>
            </a:r>
            <a:endParaRPr lang="en-US" sz="1050" dirty="0">
              <a:solidFill>
                <a:schemeClr val="bg1"/>
              </a:solidFill>
            </a:endParaRPr>
          </a:p>
        </p:txBody>
      </p:sp>
      <p:pic>
        <p:nvPicPr>
          <p:cNvPr id="8198" name="Picture 6">
            <a:extLst>
              <a:ext uri="{FF2B5EF4-FFF2-40B4-BE49-F238E27FC236}">
                <a16:creationId xmlns:a16="http://schemas.microsoft.com/office/drawing/2014/main" id="{7EA864BA-3874-4F35-B8F3-F74B03FFEA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587" y="908720"/>
            <a:ext cx="11126981" cy="4625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6775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1FCE98A-8D22-4FF0-9CC8-DC4D31317293}"/>
              </a:ext>
            </a:extLst>
          </p:cNvPr>
          <p:cNvSpPr>
            <a:spLocks noGrp="1"/>
          </p:cNvSpPr>
          <p:nvPr>
            <p:ph type="title"/>
          </p:nvPr>
        </p:nvSpPr>
        <p:spPr/>
        <p:txBody>
          <a:bodyPr>
            <a:noAutofit/>
          </a:bodyPr>
          <a:lstStyle/>
          <a:p>
            <a:r>
              <a:rPr lang="en-US" sz="2800" dirty="0"/>
              <a:t>One metrics is not enough to measure the business success of a state</a:t>
            </a:r>
          </a:p>
        </p:txBody>
      </p:sp>
      <p:sp>
        <p:nvSpPr>
          <p:cNvPr id="5" name="Text Placeholder 4">
            <a:extLst>
              <a:ext uri="{FF2B5EF4-FFF2-40B4-BE49-F238E27FC236}">
                <a16:creationId xmlns:a16="http://schemas.microsoft.com/office/drawing/2014/main" id="{30375A3D-2848-48AC-A96E-121BAC8A5F95}"/>
              </a:ext>
            </a:extLst>
          </p:cNvPr>
          <p:cNvSpPr>
            <a:spLocks noGrp="1"/>
          </p:cNvSpPr>
          <p:nvPr>
            <p:ph type="body" sz="quarter" idx="13"/>
          </p:nvPr>
        </p:nvSpPr>
        <p:spPr/>
        <p:txBody>
          <a:bodyPr/>
          <a:lstStyle/>
          <a:p>
            <a:r>
              <a:rPr lang="en-US" dirty="0"/>
              <a:t>Extra</a:t>
            </a:r>
          </a:p>
        </p:txBody>
      </p:sp>
      <p:pic>
        <p:nvPicPr>
          <p:cNvPr id="9220" name="Picture 4">
            <a:extLst>
              <a:ext uri="{FF2B5EF4-FFF2-40B4-BE49-F238E27FC236}">
                <a16:creationId xmlns:a16="http://schemas.microsoft.com/office/drawing/2014/main" id="{5C9EC053-DD09-45B8-AFFA-AA616CA98D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508" y="1005165"/>
            <a:ext cx="11382544" cy="5448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6710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321DE-4B62-421A-AECE-DF7E632E139A}"/>
              </a:ext>
            </a:extLst>
          </p:cNvPr>
          <p:cNvSpPr>
            <a:spLocks noGrp="1"/>
          </p:cNvSpPr>
          <p:nvPr>
            <p:ph type="title"/>
          </p:nvPr>
        </p:nvSpPr>
        <p:spPr/>
        <p:txBody>
          <a:bodyPr>
            <a:noAutofit/>
          </a:bodyPr>
          <a:lstStyle/>
          <a:p>
            <a:r>
              <a:rPr lang="en-US" sz="2400" b="1" i="1" dirty="0"/>
              <a:t>Categorize the states into four categories based on GDP per capita</a:t>
            </a:r>
            <a:endParaRPr lang="en-US" sz="2400" dirty="0"/>
          </a:p>
        </p:txBody>
      </p:sp>
      <p:sp>
        <p:nvSpPr>
          <p:cNvPr id="7" name="Content Placeholder 6">
            <a:extLst>
              <a:ext uri="{FF2B5EF4-FFF2-40B4-BE49-F238E27FC236}">
                <a16:creationId xmlns:a16="http://schemas.microsoft.com/office/drawing/2014/main" id="{92DCB2C3-3CD6-4666-B3C0-4FEE79A3F242}"/>
              </a:ext>
            </a:extLst>
          </p:cNvPr>
          <p:cNvSpPr>
            <a:spLocks noGrp="1"/>
          </p:cNvSpPr>
          <p:nvPr>
            <p:ph idx="1"/>
          </p:nvPr>
        </p:nvSpPr>
        <p:spPr>
          <a:xfrm>
            <a:off x="333772" y="1052736"/>
            <a:ext cx="11737304" cy="5047455"/>
          </a:xfrm>
        </p:spPr>
        <p:txBody>
          <a:bodyPr>
            <a:normAutofit lnSpcReduction="10000"/>
          </a:bodyPr>
          <a:lstStyle/>
          <a:p>
            <a:pPr marL="0" indent="0">
              <a:buNone/>
            </a:pPr>
            <a:r>
              <a:rPr lang="en-US" b="1" i="1" dirty="0"/>
              <a:t>C1, C2, C3, C4 - C1 would have the highest per capita GDP, C4 the lowest. The quantile values are 0.20,0.5, 0.85, 1.</a:t>
            </a:r>
          </a:p>
          <a:p>
            <a:pPr marL="0" indent="0">
              <a:buNone/>
            </a:pPr>
            <a:endParaRPr lang="en-US" dirty="0"/>
          </a:p>
          <a:p>
            <a:pPr>
              <a:lnSpc>
                <a:spcPct val="100000"/>
              </a:lnSpc>
            </a:pPr>
            <a:r>
              <a:rPr lang="en-US" dirty="0"/>
              <a:t>These subcategories of the states created based on the above given Percentile range of the Per Capita GDP as of 2014-15</a:t>
            </a:r>
          </a:p>
          <a:p>
            <a:pPr>
              <a:lnSpc>
                <a:spcPct val="100000"/>
              </a:lnSpc>
            </a:pPr>
            <a:r>
              <a:rPr lang="en-US" dirty="0"/>
              <a:t>C1 Category States: Uttarakhand, Kerala, Haryana, Sikkim, Goa</a:t>
            </a:r>
          </a:p>
          <a:p>
            <a:pPr>
              <a:lnSpc>
                <a:spcPct val="100000"/>
              </a:lnSpc>
            </a:pPr>
            <a:r>
              <a:rPr lang="en-US" dirty="0"/>
              <a:t>C2 Category States: </a:t>
            </a:r>
            <a:r>
              <a:rPr lang="en-US" dirty="0" err="1"/>
              <a:t>Andhra_Pradesh</a:t>
            </a:r>
            <a:r>
              <a:rPr lang="en-US" dirty="0"/>
              <a:t>, </a:t>
            </a:r>
            <a:r>
              <a:rPr lang="en-US" dirty="0" err="1"/>
              <a:t>Arunachal_Pradesh</a:t>
            </a:r>
            <a:r>
              <a:rPr lang="en-US" dirty="0"/>
              <a:t>, Punjab, Telangana, Gujarat, Karnataka, </a:t>
            </a:r>
            <a:r>
              <a:rPr lang="en-US" dirty="0" err="1"/>
              <a:t>Tamil_Nadu</a:t>
            </a:r>
            <a:r>
              <a:rPr lang="en-US" dirty="0"/>
              <a:t>, </a:t>
            </a:r>
            <a:r>
              <a:rPr lang="en-US" dirty="0" err="1"/>
              <a:t>Himachal_Pradesh</a:t>
            </a:r>
            <a:r>
              <a:rPr lang="en-US" dirty="0"/>
              <a:t>, Maharashtra</a:t>
            </a:r>
          </a:p>
          <a:p>
            <a:pPr>
              <a:lnSpc>
                <a:spcPct val="100000"/>
              </a:lnSpc>
            </a:pPr>
            <a:r>
              <a:rPr lang="en-US" dirty="0"/>
              <a:t>C3 Category States: </a:t>
            </a:r>
            <a:r>
              <a:rPr lang="en-US" dirty="0" err="1"/>
              <a:t>Madhya_Pradesh</a:t>
            </a:r>
            <a:r>
              <a:rPr lang="en-US" dirty="0"/>
              <a:t>, Odisha, Meghalaya, Tripura, Rajasthan, Chhattisgarh, Nagaland, Mizoram</a:t>
            </a:r>
          </a:p>
          <a:p>
            <a:pPr>
              <a:lnSpc>
                <a:spcPct val="100000"/>
              </a:lnSpc>
            </a:pPr>
            <a:r>
              <a:rPr lang="en-US" dirty="0"/>
              <a:t>C4 Category States: Bihar, </a:t>
            </a:r>
            <a:r>
              <a:rPr lang="en-US" dirty="0" err="1"/>
              <a:t>Uttar_Pradesh</a:t>
            </a:r>
            <a:r>
              <a:rPr lang="en-US" dirty="0"/>
              <a:t>, Manipur, Assam, Jharkhand</a:t>
            </a:r>
          </a:p>
        </p:txBody>
      </p:sp>
      <p:sp>
        <p:nvSpPr>
          <p:cNvPr id="8" name="Text Placeholder 7">
            <a:extLst>
              <a:ext uri="{FF2B5EF4-FFF2-40B4-BE49-F238E27FC236}">
                <a16:creationId xmlns:a16="http://schemas.microsoft.com/office/drawing/2014/main" id="{B6A22A5D-DA93-47E5-884B-CBA40C737EFA}"/>
              </a:ext>
            </a:extLst>
          </p:cNvPr>
          <p:cNvSpPr>
            <a:spLocks noGrp="1"/>
          </p:cNvSpPr>
          <p:nvPr>
            <p:ph type="body" sz="quarter" idx="13"/>
          </p:nvPr>
        </p:nvSpPr>
        <p:spPr/>
        <p:txBody>
          <a:bodyPr/>
          <a:lstStyle/>
          <a:p>
            <a:r>
              <a:rPr lang="en-US" dirty="0"/>
              <a:t>Task 7</a:t>
            </a:r>
          </a:p>
        </p:txBody>
      </p:sp>
    </p:spTree>
    <p:extLst>
      <p:ext uri="{BB962C8B-B14F-4D97-AF65-F5344CB8AC3E}">
        <p14:creationId xmlns:p14="http://schemas.microsoft.com/office/powerpoint/2010/main" val="154952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60897-0640-4483-A42A-6F7904397F3D}"/>
              </a:ext>
            </a:extLst>
          </p:cNvPr>
          <p:cNvSpPr>
            <a:spLocks noGrp="1"/>
          </p:cNvSpPr>
          <p:nvPr>
            <p:ph type="title"/>
          </p:nvPr>
        </p:nvSpPr>
        <p:spPr/>
        <p:txBody>
          <a:bodyPr>
            <a:noAutofit/>
          </a:bodyPr>
          <a:lstStyle/>
          <a:p>
            <a:r>
              <a:rPr lang="en-US" sz="2000" b="1" i="1" dirty="0"/>
              <a:t>Contribution of all the sub-sectors as a percentage of the GSDP of each category</a:t>
            </a:r>
            <a:endParaRPr lang="en-US" sz="2000" dirty="0"/>
          </a:p>
        </p:txBody>
      </p:sp>
      <p:sp>
        <p:nvSpPr>
          <p:cNvPr id="4" name="Text Placeholder 3">
            <a:extLst>
              <a:ext uri="{FF2B5EF4-FFF2-40B4-BE49-F238E27FC236}">
                <a16:creationId xmlns:a16="http://schemas.microsoft.com/office/drawing/2014/main" id="{C43B3E7E-0CE1-46CD-AC19-282B957A235D}"/>
              </a:ext>
            </a:extLst>
          </p:cNvPr>
          <p:cNvSpPr>
            <a:spLocks noGrp="1"/>
          </p:cNvSpPr>
          <p:nvPr>
            <p:ph type="body" sz="quarter" idx="13"/>
          </p:nvPr>
        </p:nvSpPr>
        <p:spPr/>
        <p:txBody>
          <a:bodyPr/>
          <a:lstStyle/>
          <a:p>
            <a:r>
              <a:rPr lang="en-US" dirty="0"/>
              <a:t>Task 9</a:t>
            </a:r>
          </a:p>
        </p:txBody>
      </p:sp>
      <p:pic>
        <p:nvPicPr>
          <p:cNvPr id="10248" name="Picture 8">
            <a:extLst>
              <a:ext uri="{FF2B5EF4-FFF2-40B4-BE49-F238E27FC236}">
                <a16:creationId xmlns:a16="http://schemas.microsoft.com/office/drawing/2014/main" id="{9F13CABA-2134-4624-8B67-799505FBAD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7908" y="454360"/>
            <a:ext cx="10225136" cy="5949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3089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B2BC28B-9690-4A0B-B715-75DFD80BEC9E}"/>
              </a:ext>
            </a:extLst>
          </p:cNvPr>
          <p:cNvSpPr>
            <a:spLocks noGrp="1"/>
          </p:cNvSpPr>
          <p:nvPr>
            <p:ph type="title"/>
          </p:nvPr>
        </p:nvSpPr>
        <p:spPr/>
        <p:txBody>
          <a:bodyPr>
            <a:noAutofit/>
          </a:bodyPr>
          <a:lstStyle/>
          <a:p>
            <a:r>
              <a:rPr lang="en-US" sz="2000" b="1" i="1" dirty="0"/>
              <a:t>Top sub-sectors contributing approx. </a:t>
            </a:r>
            <a:r>
              <a:rPr lang="en-US" sz="2400" b="1" i="1" dirty="0">
                <a:solidFill>
                  <a:srgbClr val="FFFF00"/>
                </a:solidFill>
              </a:rPr>
              <a:t>8</a:t>
            </a:r>
            <a:r>
              <a:rPr lang="en-US" sz="2400" b="1" dirty="0">
                <a:solidFill>
                  <a:srgbClr val="FFFF00"/>
                </a:solidFill>
              </a:rPr>
              <a:t>0% </a:t>
            </a:r>
            <a:r>
              <a:rPr lang="en-US" sz="2000" b="1" i="1" dirty="0"/>
              <a:t>of the GSDP of each category</a:t>
            </a:r>
            <a:endParaRPr lang="en-US" sz="2000" dirty="0"/>
          </a:p>
        </p:txBody>
      </p:sp>
      <p:sp>
        <p:nvSpPr>
          <p:cNvPr id="5" name="Text Placeholder 4">
            <a:extLst>
              <a:ext uri="{FF2B5EF4-FFF2-40B4-BE49-F238E27FC236}">
                <a16:creationId xmlns:a16="http://schemas.microsoft.com/office/drawing/2014/main" id="{211894AA-BE99-4924-805E-5D9EAF39B38F}"/>
              </a:ext>
            </a:extLst>
          </p:cNvPr>
          <p:cNvSpPr>
            <a:spLocks noGrp="1"/>
          </p:cNvSpPr>
          <p:nvPr>
            <p:ph type="body" sz="quarter" idx="13"/>
          </p:nvPr>
        </p:nvSpPr>
        <p:spPr/>
        <p:txBody>
          <a:bodyPr/>
          <a:lstStyle/>
          <a:p>
            <a:r>
              <a:rPr lang="en-US" dirty="0"/>
              <a:t>Task 8</a:t>
            </a:r>
          </a:p>
        </p:txBody>
      </p:sp>
      <p:sp>
        <p:nvSpPr>
          <p:cNvPr id="2" name="Rectangle 1">
            <a:extLst>
              <a:ext uri="{FF2B5EF4-FFF2-40B4-BE49-F238E27FC236}">
                <a16:creationId xmlns:a16="http://schemas.microsoft.com/office/drawing/2014/main" id="{3F97EE6F-AF5B-49F0-9649-A7163F40CFBB}"/>
              </a:ext>
            </a:extLst>
          </p:cNvPr>
          <p:cNvSpPr/>
          <p:nvPr/>
        </p:nvSpPr>
        <p:spPr>
          <a:xfrm>
            <a:off x="961926" y="0"/>
            <a:ext cx="6788670" cy="646331"/>
          </a:xfrm>
          <a:prstGeom prst="rect">
            <a:avLst/>
          </a:prstGeom>
          <a:solidFill>
            <a:srgbClr val="00B050"/>
          </a:solidFill>
        </p:spPr>
        <p:txBody>
          <a:bodyPr wrap="square">
            <a:spAutoFit/>
          </a:bodyPr>
          <a:lstStyle/>
          <a:p>
            <a:r>
              <a:rPr lang="en-US" dirty="0"/>
              <a:t>Most income for C1 &amp; C2 from Secondary &amp; Tertiary Sector</a:t>
            </a:r>
          </a:p>
          <a:p>
            <a:r>
              <a:rPr lang="en-US" dirty="0"/>
              <a:t>And C3 &amp; C4 from Primary Sector</a:t>
            </a:r>
          </a:p>
        </p:txBody>
      </p:sp>
      <p:pic>
        <p:nvPicPr>
          <p:cNvPr id="11274" name="Picture 10">
            <a:extLst>
              <a:ext uri="{FF2B5EF4-FFF2-40B4-BE49-F238E27FC236}">
                <a16:creationId xmlns:a16="http://schemas.microsoft.com/office/drawing/2014/main" id="{BA5A6247-559E-4CBA-9651-2E5F0D7148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3892" y="692696"/>
            <a:ext cx="10369151" cy="5832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6302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F3999-7399-44F9-BDC9-C228353BEA52}"/>
              </a:ext>
            </a:extLst>
          </p:cNvPr>
          <p:cNvSpPr>
            <a:spLocks noGrp="1"/>
          </p:cNvSpPr>
          <p:nvPr>
            <p:ph type="title"/>
          </p:nvPr>
        </p:nvSpPr>
        <p:spPr/>
        <p:txBody>
          <a:bodyPr>
            <a:normAutofit fontScale="90000"/>
          </a:bodyPr>
          <a:lstStyle/>
          <a:p>
            <a:r>
              <a:rPr lang="en-US" sz="2800" dirty="0"/>
              <a:t>Industries Contributing </a:t>
            </a:r>
            <a:r>
              <a:rPr lang="en-US" sz="3200" b="1" dirty="0">
                <a:solidFill>
                  <a:srgbClr val="FFFF00"/>
                </a:solidFill>
              </a:rPr>
              <a:t>20% </a:t>
            </a:r>
            <a:r>
              <a:rPr lang="en-US" sz="2800" dirty="0"/>
              <a:t>of GDP</a:t>
            </a:r>
          </a:p>
        </p:txBody>
      </p:sp>
      <p:sp>
        <p:nvSpPr>
          <p:cNvPr id="3" name="Text Placeholder 2">
            <a:extLst>
              <a:ext uri="{FF2B5EF4-FFF2-40B4-BE49-F238E27FC236}">
                <a16:creationId xmlns:a16="http://schemas.microsoft.com/office/drawing/2014/main" id="{50F83D9B-F41F-4E7C-BB95-B2FB7C81B78C}"/>
              </a:ext>
            </a:extLst>
          </p:cNvPr>
          <p:cNvSpPr>
            <a:spLocks noGrp="1"/>
          </p:cNvSpPr>
          <p:nvPr>
            <p:ph type="body" sz="quarter" idx="13"/>
          </p:nvPr>
        </p:nvSpPr>
        <p:spPr/>
        <p:txBody>
          <a:bodyPr/>
          <a:lstStyle/>
          <a:p>
            <a:r>
              <a:rPr lang="en-US" dirty="0"/>
              <a:t>Insight</a:t>
            </a:r>
          </a:p>
        </p:txBody>
      </p:sp>
      <p:pic>
        <p:nvPicPr>
          <p:cNvPr id="14346" name="Picture 10">
            <a:extLst>
              <a:ext uri="{FF2B5EF4-FFF2-40B4-BE49-F238E27FC236}">
                <a16:creationId xmlns:a16="http://schemas.microsoft.com/office/drawing/2014/main" id="{F846A689-05B4-4664-9AE0-59214BEF70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3892" y="548680"/>
            <a:ext cx="10297144" cy="6085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0504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DF359-3B12-49EA-A478-09F6FC4FA41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6642898-7A7D-4974-941D-2CABC6A4EC9B}"/>
              </a:ext>
            </a:extLst>
          </p:cNvPr>
          <p:cNvSpPr>
            <a:spLocks noGrp="1"/>
          </p:cNvSpPr>
          <p:nvPr>
            <p:ph type="body" sz="quarter" idx="13"/>
          </p:nvPr>
        </p:nvSpPr>
        <p:spPr/>
        <p:txBody>
          <a:bodyPr/>
          <a:lstStyle/>
          <a:p>
            <a:r>
              <a:rPr lang="en-US" dirty="0"/>
              <a:t>Insight</a:t>
            </a:r>
          </a:p>
          <a:p>
            <a:endParaRPr lang="en-US" dirty="0"/>
          </a:p>
        </p:txBody>
      </p:sp>
      <p:pic>
        <p:nvPicPr>
          <p:cNvPr id="15362" name="Picture 2">
            <a:extLst>
              <a:ext uri="{FF2B5EF4-FFF2-40B4-BE49-F238E27FC236}">
                <a16:creationId xmlns:a16="http://schemas.microsoft.com/office/drawing/2014/main" id="{7904E686-B32A-4957-8C71-C0471A3242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7908" y="1340768"/>
            <a:ext cx="10278561" cy="530120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94F3D04C-5790-4B19-B438-A94939EAF177}"/>
              </a:ext>
            </a:extLst>
          </p:cNvPr>
          <p:cNvSpPr/>
          <p:nvPr/>
        </p:nvSpPr>
        <p:spPr>
          <a:xfrm>
            <a:off x="961926" y="0"/>
            <a:ext cx="6788670" cy="923330"/>
          </a:xfrm>
          <a:prstGeom prst="rect">
            <a:avLst/>
          </a:prstGeom>
          <a:solidFill>
            <a:srgbClr val="00B050"/>
          </a:solidFill>
        </p:spPr>
        <p:txBody>
          <a:bodyPr wrap="square">
            <a:spAutoFit/>
          </a:bodyPr>
          <a:lstStyle/>
          <a:p>
            <a:r>
              <a:rPr lang="en-US" sz="5400" b="1" dirty="0"/>
              <a:t>60% </a:t>
            </a:r>
            <a:r>
              <a:rPr lang="en-US" sz="2400" dirty="0"/>
              <a:t>(approx.) </a:t>
            </a:r>
            <a:r>
              <a:rPr lang="en-US" dirty="0"/>
              <a:t>Crop GDP from 4 States</a:t>
            </a:r>
          </a:p>
        </p:txBody>
      </p:sp>
    </p:spTree>
    <p:extLst>
      <p:ext uri="{BB962C8B-B14F-4D97-AF65-F5344CB8AC3E}">
        <p14:creationId xmlns:p14="http://schemas.microsoft.com/office/powerpoint/2010/main" val="2036512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ECFD8-E719-4BDE-97CD-A140BFEE2E9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69932D77-44D3-4627-AF6A-F7AC70ABAF39}"/>
              </a:ext>
            </a:extLst>
          </p:cNvPr>
          <p:cNvSpPr>
            <a:spLocks noGrp="1"/>
          </p:cNvSpPr>
          <p:nvPr>
            <p:ph type="body" sz="quarter" idx="13"/>
          </p:nvPr>
        </p:nvSpPr>
        <p:spPr/>
        <p:txBody>
          <a:bodyPr/>
          <a:lstStyle/>
          <a:p>
            <a:r>
              <a:rPr lang="en-US" dirty="0"/>
              <a:t>Insight</a:t>
            </a:r>
          </a:p>
          <a:p>
            <a:endParaRPr lang="en-US" dirty="0"/>
          </a:p>
        </p:txBody>
      </p:sp>
      <p:pic>
        <p:nvPicPr>
          <p:cNvPr id="16386" name="Picture 2">
            <a:extLst>
              <a:ext uri="{FF2B5EF4-FFF2-40B4-BE49-F238E27FC236}">
                <a16:creationId xmlns:a16="http://schemas.microsoft.com/office/drawing/2014/main" id="{04B5ECFE-93A8-4ED7-8BBC-DC22FF79C4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5900" y="1340768"/>
            <a:ext cx="10369152" cy="511256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10D069E-9847-4626-806B-07012B30F1EA}"/>
              </a:ext>
            </a:extLst>
          </p:cNvPr>
          <p:cNvSpPr/>
          <p:nvPr/>
        </p:nvSpPr>
        <p:spPr>
          <a:xfrm>
            <a:off x="961926" y="0"/>
            <a:ext cx="6788670" cy="923330"/>
          </a:xfrm>
          <a:prstGeom prst="rect">
            <a:avLst/>
          </a:prstGeom>
          <a:solidFill>
            <a:srgbClr val="00B050"/>
          </a:solidFill>
        </p:spPr>
        <p:txBody>
          <a:bodyPr wrap="square">
            <a:spAutoFit/>
          </a:bodyPr>
          <a:lstStyle/>
          <a:p>
            <a:r>
              <a:rPr lang="en-US" sz="5400" b="1" dirty="0"/>
              <a:t>60% </a:t>
            </a:r>
            <a:r>
              <a:rPr lang="en-US" dirty="0"/>
              <a:t>Manufacturing GDP from 5 States</a:t>
            </a:r>
          </a:p>
        </p:txBody>
      </p:sp>
    </p:spTree>
    <p:extLst>
      <p:ext uri="{BB962C8B-B14F-4D97-AF65-F5344CB8AC3E}">
        <p14:creationId xmlns:p14="http://schemas.microsoft.com/office/powerpoint/2010/main" val="2659239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D8566-2C12-410E-81F4-9A9E25A19C1B}"/>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E2444FB-4FD1-4047-8065-213375793C21}"/>
              </a:ext>
            </a:extLst>
          </p:cNvPr>
          <p:cNvSpPr>
            <a:spLocks noGrp="1"/>
          </p:cNvSpPr>
          <p:nvPr>
            <p:ph type="body" sz="quarter" idx="13"/>
          </p:nvPr>
        </p:nvSpPr>
        <p:spPr/>
        <p:txBody>
          <a:bodyPr/>
          <a:lstStyle/>
          <a:p>
            <a:r>
              <a:rPr lang="en-US" dirty="0"/>
              <a:t>Insight</a:t>
            </a:r>
          </a:p>
          <a:p>
            <a:endParaRPr lang="en-US" dirty="0"/>
          </a:p>
        </p:txBody>
      </p:sp>
      <p:pic>
        <p:nvPicPr>
          <p:cNvPr id="17411" name="Picture 3">
            <a:extLst>
              <a:ext uri="{FF2B5EF4-FFF2-40B4-BE49-F238E27FC236}">
                <a16:creationId xmlns:a16="http://schemas.microsoft.com/office/drawing/2014/main" id="{074D74D6-37BF-4AC5-B952-ABCD2CE50D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3932" y="1124744"/>
            <a:ext cx="10009112" cy="553699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20FB645-6D98-45E9-8EF9-71F0407A690E}"/>
              </a:ext>
            </a:extLst>
          </p:cNvPr>
          <p:cNvSpPr/>
          <p:nvPr/>
        </p:nvSpPr>
        <p:spPr>
          <a:xfrm>
            <a:off x="961926" y="0"/>
            <a:ext cx="6788670" cy="923330"/>
          </a:xfrm>
          <a:prstGeom prst="rect">
            <a:avLst/>
          </a:prstGeom>
          <a:solidFill>
            <a:srgbClr val="00B050"/>
          </a:solidFill>
        </p:spPr>
        <p:txBody>
          <a:bodyPr wrap="square">
            <a:spAutoFit/>
          </a:bodyPr>
          <a:lstStyle/>
          <a:p>
            <a:r>
              <a:rPr lang="en-US" sz="5400" b="1" dirty="0"/>
              <a:t>60% </a:t>
            </a:r>
            <a:r>
              <a:rPr lang="en-US" sz="2400" dirty="0"/>
              <a:t>(approx.) </a:t>
            </a:r>
            <a:r>
              <a:rPr lang="en-US" dirty="0"/>
              <a:t>Construction GDP from 6 States</a:t>
            </a:r>
          </a:p>
        </p:txBody>
      </p:sp>
    </p:spTree>
    <p:extLst>
      <p:ext uri="{BB962C8B-B14F-4D97-AF65-F5344CB8AC3E}">
        <p14:creationId xmlns:p14="http://schemas.microsoft.com/office/powerpoint/2010/main" val="796971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59FCC-62B8-4405-BA9B-1FB887155593}"/>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C7D7D357-5FB7-412D-9329-59EAFD886A8E}"/>
              </a:ext>
            </a:extLst>
          </p:cNvPr>
          <p:cNvSpPr>
            <a:spLocks noGrp="1"/>
          </p:cNvSpPr>
          <p:nvPr>
            <p:ph type="body" sz="quarter" idx="13"/>
          </p:nvPr>
        </p:nvSpPr>
        <p:spPr/>
        <p:txBody>
          <a:bodyPr/>
          <a:lstStyle/>
          <a:p>
            <a:r>
              <a:rPr lang="en-US" dirty="0"/>
              <a:t>Insight</a:t>
            </a:r>
          </a:p>
        </p:txBody>
      </p:sp>
      <p:pic>
        <p:nvPicPr>
          <p:cNvPr id="18436" name="Picture 4">
            <a:extLst>
              <a:ext uri="{FF2B5EF4-FFF2-40B4-BE49-F238E27FC236}">
                <a16:creationId xmlns:a16="http://schemas.microsoft.com/office/drawing/2014/main" id="{337196CF-C660-4495-99C8-D96E3949B5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1883" y="1196752"/>
            <a:ext cx="10572235" cy="518457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E1582BE9-7E49-478B-A8EF-4F681244EF54}"/>
              </a:ext>
            </a:extLst>
          </p:cNvPr>
          <p:cNvSpPr/>
          <p:nvPr/>
        </p:nvSpPr>
        <p:spPr>
          <a:xfrm>
            <a:off x="961926" y="0"/>
            <a:ext cx="6788670" cy="923330"/>
          </a:xfrm>
          <a:prstGeom prst="rect">
            <a:avLst/>
          </a:prstGeom>
          <a:solidFill>
            <a:srgbClr val="00B050"/>
          </a:solidFill>
        </p:spPr>
        <p:txBody>
          <a:bodyPr wrap="square">
            <a:spAutoFit/>
          </a:bodyPr>
          <a:lstStyle/>
          <a:p>
            <a:r>
              <a:rPr lang="en-US" sz="5400" b="1" dirty="0"/>
              <a:t>60% </a:t>
            </a:r>
            <a:r>
              <a:rPr lang="en-US" dirty="0"/>
              <a:t>Hotel &amp; Restaurant GDP from 4 States</a:t>
            </a:r>
          </a:p>
        </p:txBody>
      </p:sp>
    </p:spTree>
    <p:extLst>
      <p:ext uri="{BB962C8B-B14F-4D97-AF65-F5344CB8AC3E}">
        <p14:creationId xmlns:p14="http://schemas.microsoft.com/office/powerpoint/2010/main" val="2879800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BF603-D239-41AD-8E06-D0F1955FDC9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0845BA9-71E2-4C22-A665-04C8B3289799}"/>
              </a:ext>
            </a:extLst>
          </p:cNvPr>
          <p:cNvSpPr>
            <a:spLocks noGrp="1"/>
          </p:cNvSpPr>
          <p:nvPr>
            <p:ph type="body" sz="quarter" idx="13"/>
          </p:nvPr>
        </p:nvSpPr>
        <p:spPr/>
        <p:txBody>
          <a:bodyPr/>
          <a:lstStyle/>
          <a:p>
            <a:r>
              <a:rPr lang="en-US" dirty="0"/>
              <a:t>Insight</a:t>
            </a:r>
          </a:p>
        </p:txBody>
      </p:sp>
      <p:pic>
        <p:nvPicPr>
          <p:cNvPr id="19458" name="Picture 2">
            <a:extLst>
              <a:ext uri="{FF2B5EF4-FFF2-40B4-BE49-F238E27FC236}">
                <a16:creationId xmlns:a16="http://schemas.microsoft.com/office/drawing/2014/main" id="{E7779DA2-5AFD-4D1F-AB50-4E7CBE5079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8805" y="1196752"/>
            <a:ext cx="10572235" cy="532859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AB8D3B28-728A-4963-BE6F-5360744D2BBB}"/>
              </a:ext>
            </a:extLst>
          </p:cNvPr>
          <p:cNvSpPr/>
          <p:nvPr/>
        </p:nvSpPr>
        <p:spPr>
          <a:xfrm>
            <a:off x="961926" y="0"/>
            <a:ext cx="6788670" cy="923330"/>
          </a:xfrm>
          <a:prstGeom prst="rect">
            <a:avLst/>
          </a:prstGeom>
          <a:solidFill>
            <a:srgbClr val="00B050"/>
          </a:solidFill>
        </p:spPr>
        <p:txBody>
          <a:bodyPr wrap="square">
            <a:spAutoFit/>
          </a:bodyPr>
          <a:lstStyle/>
          <a:p>
            <a:r>
              <a:rPr lang="en-US" sz="5400" b="1" dirty="0"/>
              <a:t>40% </a:t>
            </a:r>
            <a:r>
              <a:rPr lang="en-US" dirty="0"/>
              <a:t>Financial Services GDP from 2 States</a:t>
            </a:r>
          </a:p>
        </p:txBody>
      </p:sp>
    </p:spTree>
    <p:extLst>
      <p:ext uri="{BB962C8B-B14F-4D97-AF65-F5344CB8AC3E}">
        <p14:creationId xmlns:p14="http://schemas.microsoft.com/office/powerpoint/2010/main" val="2766697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62208-BDE4-406F-9C07-1766A83951E2}"/>
              </a:ext>
            </a:extLst>
          </p:cNvPr>
          <p:cNvSpPr>
            <a:spLocks noGrp="1"/>
          </p:cNvSpPr>
          <p:nvPr>
            <p:ph type="title"/>
          </p:nvPr>
        </p:nvSpPr>
        <p:spPr/>
        <p:txBody>
          <a:bodyPr>
            <a:noAutofit/>
          </a:bodyPr>
          <a:lstStyle/>
          <a:p>
            <a:r>
              <a:rPr lang="en-US" sz="2000" b="1" i="1" dirty="0"/>
              <a:t>Observe non-obvious insights from Previous Analysis</a:t>
            </a:r>
            <a:endParaRPr lang="en-US" sz="2000" dirty="0"/>
          </a:p>
        </p:txBody>
      </p:sp>
      <p:graphicFrame>
        <p:nvGraphicFramePr>
          <p:cNvPr id="5" name="Content Placeholder 4">
            <a:extLst>
              <a:ext uri="{FF2B5EF4-FFF2-40B4-BE49-F238E27FC236}">
                <a16:creationId xmlns:a16="http://schemas.microsoft.com/office/drawing/2014/main" id="{47F4EBFC-0188-4DDB-92A9-F3A862F86D5A}"/>
              </a:ext>
            </a:extLst>
          </p:cNvPr>
          <p:cNvGraphicFramePr>
            <a:graphicFrameLocks noGrp="1"/>
          </p:cNvGraphicFramePr>
          <p:nvPr>
            <p:ph idx="1"/>
            <p:extLst>
              <p:ext uri="{D42A27DB-BD31-4B8C-83A1-F6EECF244321}">
                <p14:modId xmlns:p14="http://schemas.microsoft.com/office/powerpoint/2010/main" val="717212623"/>
              </p:ext>
            </p:extLst>
          </p:nvPr>
        </p:nvGraphicFramePr>
        <p:xfrm>
          <a:off x="333374" y="1125538"/>
          <a:ext cx="11305653" cy="2377440"/>
        </p:xfrm>
        <a:graphic>
          <a:graphicData uri="http://schemas.openxmlformats.org/drawingml/2006/table">
            <a:tbl>
              <a:tblPr firstRow="1" bandRow="1">
                <a:tableStyleId>{17292A2E-F333-43FB-9621-5CBBE7FDCDCB}</a:tableStyleId>
              </a:tblPr>
              <a:tblGrid>
                <a:gridCol w="3744814">
                  <a:extLst>
                    <a:ext uri="{9D8B030D-6E8A-4147-A177-3AD203B41FA5}">
                      <a16:colId xmlns:a16="http://schemas.microsoft.com/office/drawing/2014/main" val="1839829298"/>
                    </a:ext>
                  </a:extLst>
                </a:gridCol>
                <a:gridCol w="3792288">
                  <a:extLst>
                    <a:ext uri="{9D8B030D-6E8A-4147-A177-3AD203B41FA5}">
                      <a16:colId xmlns:a16="http://schemas.microsoft.com/office/drawing/2014/main" val="4290052272"/>
                    </a:ext>
                  </a:extLst>
                </a:gridCol>
                <a:gridCol w="3768551">
                  <a:extLst>
                    <a:ext uri="{9D8B030D-6E8A-4147-A177-3AD203B41FA5}">
                      <a16:colId xmlns:a16="http://schemas.microsoft.com/office/drawing/2014/main" val="118788963"/>
                    </a:ext>
                  </a:extLst>
                </a:gridCol>
              </a:tblGrid>
              <a:tr h="370840">
                <a:tc>
                  <a:txBody>
                    <a:bodyPr/>
                    <a:lstStyle/>
                    <a:p>
                      <a:r>
                        <a:rPr lang="en-US" sz="2400" dirty="0"/>
                        <a:t>Crops</a:t>
                      </a:r>
                    </a:p>
                  </a:txBody>
                  <a:tcPr/>
                </a:tc>
                <a:tc>
                  <a:txBody>
                    <a:bodyPr/>
                    <a:lstStyle/>
                    <a:p>
                      <a:r>
                        <a:rPr lang="en-US" sz="2400" dirty="0"/>
                        <a:t>Manufacturing</a:t>
                      </a:r>
                    </a:p>
                  </a:txBody>
                  <a:tcPr/>
                </a:tc>
                <a:tc>
                  <a:txBody>
                    <a:bodyPr/>
                    <a:lstStyle/>
                    <a:p>
                      <a:r>
                        <a:rPr lang="en-US" sz="2400" dirty="0"/>
                        <a:t>Construction</a:t>
                      </a:r>
                    </a:p>
                  </a:txBody>
                  <a:tcPr/>
                </a:tc>
                <a:extLst>
                  <a:ext uri="{0D108BD9-81ED-4DB2-BD59-A6C34878D82A}">
                    <a16:rowId xmlns:a16="http://schemas.microsoft.com/office/drawing/2014/main" val="3217060129"/>
                  </a:ext>
                </a:extLst>
              </a:tr>
              <a:tr h="370840">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Utter Pradesh</a:t>
                      </a:r>
                    </a:p>
                    <a:p>
                      <a:pPr marL="342900" indent="-342900">
                        <a:buFont typeface="Arial" panose="020B0604020202020204" pitchFamily="34" charset="0"/>
                        <a:buChar char="•"/>
                      </a:pPr>
                      <a:r>
                        <a:rPr lang="en-US" sz="2400" dirty="0"/>
                        <a:t>Madhya Pradesh</a:t>
                      </a:r>
                    </a:p>
                    <a:p>
                      <a:pPr marL="342900" indent="-342900">
                        <a:buFont typeface="Arial" panose="020B0604020202020204" pitchFamily="34" charset="0"/>
                        <a:buChar char="•"/>
                      </a:pPr>
                      <a:r>
                        <a:rPr lang="en-US" sz="2400" dirty="0" err="1"/>
                        <a:t>Maharastra</a:t>
                      </a:r>
                      <a:endParaRPr lang="en-US" sz="2400" dirty="0"/>
                    </a:p>
                    <a:p>
                      <a:pPr marL="342900" indent="-342900">
                        <a:buFont typeface="Arial" panose="020B0604020202020204" pitchFamily="34" charset="0"/>
                        <a:buChar char="•"/>
                      </a:pPr>
                      <a:r>
                        <a:rPr lang="en-US" sz="2400" dirty="0" err="1"/>
                        <a:t>Gurjarat</a:t>
                      </a:r>
                      <a:endParaRPr lang="en-US" sz="2400" dirty="0"/>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err="1"/>
                        <a:t>Maharastra</a:t>
                      </a:r>
                      <a:endParaRPr lang="en-US" sz="2400" dirty="0"/>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Gujarat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Tamil Nadu</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Karnataka</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Utter Pradesh</a:t>
                      </a: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Tamil Nadu</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Utter Pradesh</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err="1"/>
                        <a:t>Maharastra</a:t>
                      </a:r>
                      <a:endParaRPr lang="en-US" sz="2400" dirty="0"/>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Kerala</a:t>
                      </a:r>
                    </a:p>
                    <a:p>
                      <a:endParaRPr lang="en-US" sz="2400" dirty="0"/>
                    </a:p>
                  </a:txBody>
                  <a:tcPr/>
                </a:tc>
                <a:extLst>
                  <a:ext uri="{0D108BD9-81ED-4DB2-BD59-A6C34878D82A}">
                    <a16:rowId xmlns:a16="http://schemas.microsoft.com/office/drawing/2014/main" val="673743285"/>
                  </a:ext>
                </a:extLst>
              </a:tr>
            </a:tbl>
          </a:graphicData>
        </a:graphic>
      </p:graphicFrame>
      <p:sp>
        <p:nvSpPr>
          <p:cNvPr id="4" name="Text Placeholder 3">
            <a:extLst>
              <a:ext uri="{FF2B5EF4-FFF2-40B4-BE49-F238E27FC236}">
                <a16:creationId xmlns:a16="http://schemas.microsoft.com/office/drawing/2014/main" id="{DADB8197-F9F9-4388-B196-00FD42CDD1D9}"/>
              </a:ext>
            </a:extLst>
          </p:cNvPr>
          <p:cNvSpPr>
            <a:spLocks noGrp="1"/>
          </p:cNvSpPr>
          <p:nvPr>
            <p:ph type="body" sz="quarter" idx="13"/>
          </p:nvPr>
        </p:nvSpPr>
        <p:spPr/>
        <p:txBody>
          <a:bodyPr/>
          <a:lstStyle/>
          <a:p>
            <a:r>
              <a:rPr lang="en-US" dirty="0"/>
              <a:t>Task 10</a:t>
            </a:r>
          </a:p>
        </p:txBody>
      </p:sp>
      <p:graphicFrame>
        <p:nvGraphicFramePr>
          <p:cNvPr id="6" name="Table 5">
            <a:extLst>
              <a:ext uri="{FF2B5EF4-FFF2-40B4-BE49-F238E27FC236}">
                <a16:creationId xmlns:a16="http://schemas.microsoft.com/office/drawing/2014/main" id="{4DF7DE65-C3F8-4C19-A85C-5D7B3FDBB149}"/>
              </a:ext>
            </a:extLst>
          </p:cNvPr>
          <p:cNvGraphicFramePr>
            <a:graphicFrameLocks noGrp="1"/>
          </p:cNvGraphicFramePr>
          <p:nvPr>
            <p:extLst>
              <p:ext uri="{D42A27DB-BD31-4B8C-83A1-F6EECF244321}">
                <p14:modId xmlns:p14="http://schemas.microsoft.com/office/powerpoint/2010/main" val="4247035294"/>
              </p:ext>
            </p:extLst>
          </p:nvPr>
        </p:nvGraphicFramePr>
        <p:xfrm>
          <a:off x="333373" y="3906268"/>
          <a:ext cx="11305654" cy="2011680"/>
        </p:xfrm>
        <a:graphic>
          <a:graphicData uri="http://schemas.openxmlformats.org/drawingml/2006/table">
            <a:tbl>
              <a:tblPr firstRow="1" bandRow="1">
                <a:tableStyleId>{17292A2E-F333-43FB-9621-5CBBE7FDCDCB}</a:tableStyleId>
              </a:tblPr>
              <a:tblGrid>
                <a:gridCol w="5652827">
                  <a:extLst>
                    <a:ext uri="{9D8B030D-6E8A-4147-A177-3AD203B41FA5}">
                      <a16:colId xmlns:a16="http://schemas.microsoft.com/office/drawing/2014/main" val="3562828585"/>
                    </a:ext>
                  </a:extLst>
                </a:gridCol>
                <a:gridCol w="5652827">
                  <a:extLst>
                    <a:ext uri="{9D8B030D-6E8A-4147-A177-3AD203B41FA5}">
                      <a16:colId xmlns:a16="http://schemas.microsoft.com/office/drawing/2014/main" val="1951317875"/>
                    </a:ext>
                  </a:extLst>
                </a:gridCol>
              </a:tblGrid>
              <a:tr h="0">
                <a:tc>
                  <a:txBody>
                    <a:bodyPr/>
                    <a:lstStyle/>
                    <a:p>
                      <a:r>
                        <a:rPr lang="en-US" sz="2400" dirty="0"/>
                        <a:t>Hotel &amp; Restaurants</a:t>
                      </a:r>
                    </a:p>
                  </a:txBody>
                  <a:tcPr/>
                </a:tc>
                <a:tc>
                  <a:txBody>
                    <a:bodyPr/>
                    <a:lstStyle/>
                    <a:p>
                      <a:r>
                        <a:rPr lang="en-US" sz="2400" dirty="0"/>
                        <a:t>Financial Services</a:t>
                      </a:r>
                    </a:p>
                  </a:txBody>
                  <a:tcPr/>
                </a:tc>
                <a:extLst>
                  <a:ext uri="{0D108BD9-81ED-4DB2-BD59-A6C34878D82A}">
                    <a16:rowId xmlns:a16="http://schemas.microsoft.com/office/drawing/2014/main" val="386892481"/>
                  </a:ext>
                </a:extLst>
              </a:tr>
              <a:tr h="370840">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Tamil Nadu</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err="1"/>
                        <a:t>Maharastra</a:t>
                      </a:r>
                      <a:endParaRPr lang="en-US" sz="2400" dirty="0"/>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Karnataka</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Utter Pradesh</a:t>
                      </a: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err="1"/>
                        <a:t>Maharastra</a:t>
                      </a:r>
                      <a:r>
                        <a:rPr lang="en-US" sz="2400" dirty="0"/>
                        <a:t>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Tamil Nadu</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Gujarat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Karnataka</a:t>
                      </a:r>
                    </a:p>
                  </a:txBody>
                  <a:tcPr/>
                </a:tc>
                <a:extLst>
                  <a:ext uri="{0D108BD9-81ED-4DB2-BD59-A6C34878D82A}">
                    <a16:rowId xmlns:a16="http://schemas.microsoft.com/office/drawing/2014/main" val="2633220245"/>
                  </a:ext>
                </a:extLst>
              </a:tr>
            </a:tbl>
          </a:graphicData>
        </a:graphic>
      </p:graphicFrame>
    </p:spTree>
    <p:extLst>
      <p:ext uri="{BB962C8B-B14F-4D97-AF65-F5344CB8AC3E}">
        <p14:creationId xmlns:p14="http://schemas.microsoft.com/office/powerpoint/2010/main" val="690998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166ED-B288-4D3D-BBC7-DBA892C2B4B7}"/>
              </a:ext>
            </a:extLst>
          </p:cNvPr>
          <p:cNvSpPr>
            <a:spLocks noGrp="1"/>
          </p:cNvSpPr>
          <p:nvPr>
            <p:ph type="title"/>
          </p:nvPr>
        </p:nvSpPr>
        <p:spPr/>
        <p:txBody>
          <a:bodyPr>
            <a:normAutofit/>
          </a:bodyPr>
          <a:lstStyle/>
          <a:p>
            <a:r>
              <a:rPr lang="en-US" sz="3200" b="1" i="1" dirty="0"/>
              <a:t>Write the key insights you observe from this data</a:t>
            </a:r>
            <a:endParaRPr lang="en-US" sz="3200" dirty="0"/>
          </a:p>
        </p:txBody>
      </p:sp>
      <p:sp>
        <p:nvSpPr>
          <p:cNvPr id="3" name="Content Placeholder 2">
            <a:extLst>
              <a:ext uri="{FF2B5EF4-FFF2-40B4-BE49-F238E27FC236}">
                <a16:creationId xmlns:a16="http://schemas.microsoft.com/office/drawing/2014/main" id="{9AFC81CC-E58E-4775-A03B-0A0D3D591684}"/>
              </a:ext>
            </a:extLst>
          </p:cNvPr>
          <p:cNvSpPr>
            <a:spLocks noGrp="1"/>
          </p:cNvSpPr>
          <p:nvPr>
            <p:ph idx="1"/>
          </p:nvPr>
        </p:nvSpPr>
        <p:spPr/>
        <p:txBody>
          <a:bodyPr>
            <a:normAutofit fontScale="92500" lnSpcReduction="10000"/>
          </a:bodyPr>
          <a:lstStyle/>
          <a:p>
            <a:r>
              <a:rPr lang="en-US" b="1" dirty="0">
                <a:solidFill>
                  <a:srgbClr val="00B050"/>
                </a:solidFill>
              </a:rPr>
              <a:t>6 States </a:t>
            </a:r>
            <a:r>
              <a:rPr lang="en-US" dirty="0"/>
              <a:t>which has GDP growth rate less than national average</a:t>
            </a:r>
          </a:p>
          <a:p>
            <a:pPr lvl="1"/>
            <a:r>
              <a:rPr lang="en-US" dirty="0"/>
              <a:t>Gujarat, J &amp; K, Sikkim, Odisha, Meghalaya, Goa</a:t>
            </a:r>
          </a:p>
          <a:p>
            <a:pPr lvl="1"/>
            <a:r>
              <a:rPr lang="en-US" dirty="0"/>
              <a:t>But Gujrat and Goa has high Per Capita GDP.</a:t>
            </a:r>
          </a:p>
          <a:p>
            <a:r>
              <a:rPr lang="en-US" b="1" dirty="0">
                <a:solidFill>
                  <a:srgbClr val="00B050"/>
                </a:solidFill>
              </a:rPr>
              <a:t>5 States </a:t>
            </a:r>
            <a:r>
              <a:rPr lang="en-US" dirty="0"/>
              <a:t>Generate 50% of the Total National GDP</a:t>
            </a:r>
          </a:p>
          <a:p>
            <a:pPr lvl="1"/>
            <a:r>
              <a:rPr lang="en-US" dirty="0"/>
              <a:t>MH, TN, UP, KN, Gujarat</a:t>
            </a:r>
          </a:p>
          <a:p>
            <a:r>
              <a:rPr lang="en-US" dirty="0"/>
              <a:t>All bottom 5 states are very small states. Except A&amp;N Island all the NE States</a:t>
            </a:r>
          </a:p>
          <a:p>
            <a:r>
              <a:rPr lang="en-US" b="1" dirty="0">
                <a:solidFill>
                  <a:srgbClr val="00B050"/>
                </a:solidFill>
              </a:rPr>
              <a:t>58% Population </a:t>
            </a:r>
            <a:r>
              <a:rPr lang="en-US" dirty="0"/>
              <a:t>of India lives in 6 States</a:t>
            </a:r>
          </a:p>
          <a:p>
            <a:pPr lvl="1"/>
            <a:r>
              <a:rPr lang="en-US" dirty="0"/>
              <a:t>UP, MH, Bihar, MP, TN, Rajasthan</a:t>
            </a:r>
          </a:p>
          <a:p>
            <a:r>
              <a:rPr lang="en-US" b="1" dirty="0">
                <a:solidFill>
                  <a:srgbClr val="00B050"/>
                </a:solidFill>
              </a:rPr>
              <a:t>Average National GDP </a:t>
            </a:r>
            <a:r>
              <a:rPr lang="en-US" dirty="0"/>
              <a:t>is 1.15 Lakh Crore. 55% of the states has Per Capita less than national average</a:t>
            </a:r>
          </a:p>
          <a:p>
            <a:r>
              <a:rPr lang="en-US" dirty="0"/>
              <a:t>Bihar &amp; UP 2 </a:t>
            </a:r>
            <a:r>
              <a:rPr lang="en-US" b="1" dirty="0">
                <a:solidFill>
                  <a:srgbClr val="00B050"/>
                </a:solidFill>
              </a:rPr>
              <a:t>large and poor states</a:t>
            </a:r>
          </a:p>
          <a:p>
            <a:r>
              <a:rPr lang="en-US" dirty="0"/>
              <a:t>Generally</a:t>
            </a:r>
            <a:r>
              <a:rPr lang="en-US" sz="1800" dirty="0"/>
              <a:t> Lessor</a:t>
            </a:r>
            <a:r>
              <a:rPr lang="en-US" dirty="0"/>
              <a:t> the Population </a:t>
            </a:r>
            <a:r>
              <a:rPr lang="en-US" sz="3000" b="1" dirty="0"/>
              <a:t>Higher</a:t>
            </a:r>
            <a:r>
              <a:rPr lang="en-US" dirty="0"/>
              <a:t> the Per Capita GDP of States</a:t>
            </a:r>
          </a:p>
        </p:txBody>
      </p:sp>
      <p:sp>
        <p:nvSpPr>
          <p:cNvPr id="4" name="Text Placeholder 3">
            <a:extLst>
              <a:ext uri="{FF2B5EF4-FFF2-40B4-BE49-F238E27FC236}">
                <a16:creationId xmlns:a16="http://schemas.microsoft.com/office/drawing/2014/main" id="{5536B0F3-484C-4312-A664-42640B12ACAB}"/>
              </a:ext>
            </a:extLst>
          </p:cNvPr>
          <p:cNvSpPr>
            <a:spLocks noGrp="1"/>
          </p:cNvSpPr>
          <p:nvPr>
            <p:ph type="body" sz="quarter" idx="13"/>
          </p:nvPr>
        </p:nvSpPr>
        <p:spPr/>
        <p:txBody>
          <a:bodyPr/>
          <a:lstStyle/>
          <a:p>
            <a:r>
              <a:rPr lang="en-US" dirty="0"/>
              <a:t>Task 2</a:t>
            </a:r>
          </a:p>
        </p:txBody>
      </p:sp>
    </p:spTree>
    <p:extLst>
      <p:ext uri="{BB962C8B-B14F-4D97-AF65-F5344CB8AC3E}">
        <p14:creationId xmlns:p14="http://schemas.microsoft.com/office/powerpoint/2010/main" val="750238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062F7-1505-4E8B-803D-381B6671AC9F}"/>
              </a:ext>
            </a:extLst>
          </p:cNvPr>
          <p:cNvSpPr>
            <a:spLocks noGrp="1"/>
          </p:cNvSpPr>
          <p:nvPr>
            <p:ph type="title"/>
          </p:nvPr>
        </p:nvSpPr>
        <p:spPr/>
        <p:txBody>
          <a:bodyPr>
            <a:normAutofit/>
          </a:bodyPr>
          <a:lstStyle/>
          <a:p>
            <a:r>
              <a:rPr lang="en-US" sz="3200" b="1" i="1" dirty="0"/>
              <a:t>Write the key insights you observe from this data</a:t>
            </a:r>
            <a:endParaRPr lang="en-US" sz="3200" dirty="0"/>
          </a:p>
        </p:txBody>
      </p:sp>
      <p:sp>
        <p:nvSpPr>
          <p:cNvPr id="3" name="Content Placeholder 2">
            <a:extLst>
              <a:ext uri="{FF2B5EF4-FFF2-40B4-BE49-F238E27FC236}">
                <a16:creationId xmlns:a16="http://schemas.microsoft.com/office/drawing/2014/main" id="{A8A85EBF-8E22-4763-A3B2-595197931CE8}"/>
              </a:ext>
            </a:extLst>
          </p:cNvPr>
          <p:cNvSpPr>
            <a:spLocks noGrp="1"/>
          </p:cNvSpPr>
          <p:nvPr>
            <p:ph idx="1"/>
          </p:nvPr>
        </p:nvSpPr>
        <p:spPr/>
        <p:txBody>
          <a:bodyPr/>
          <a:lstStyle/>
          <a:p>
            <a:r>
              <a:rPr lang="en-US" dirty="0"/>
              <a:t>Top 5 : </a:t>
            </a:r>
            <a:r>
              <a:rPr lang="en-US" dirty="0">
                <a:solidFill>
                  <a:srgbClr val="00B050"/>
                </a:solidFill>
              </a:rPr>
              <a:t>Primary Industry </a:t>
            </a:r>
            <a:r>
              <a:rPr lang="en-US" dirty="0"/>
              <a:t>States</a:t>
            </a:r>
          </a:p>
          <a:p>
            <a:pPr lvl="1"/>
            <a:r>
              <a:rPr lang="en-US" dirty="0" err="1"/>
              <a:t>Arunanchal</a:t>
            </a:r>
            <a:r>
              <a:rPr lang="en-US" dirty="0"/>
              <a:t>, MP, Nagaland, Tripura, Rajasthan</a:t>
            </a:r>
          </a:p>
          <a:p>
            <a:r>
              <a:rPr lang="en-US" dirty="0"/>
              <a:t>Top 5 : </a:t>
            </a:r>
            <a:r>
              <a:rPr lang="en-US" dirty="0">
                <a:solidFill>
                  <a:srgbClr val="00B050"/>
                </a:solidFill>
              </a:rPr>
              <a:t>Secondary Industry</a:t>
            </a:r>
            <a:r>
              <a:rPr lang="en-US" dirty="0"/>
              <a:t> States</a:t>
            </a:r>
          </a:p>
          <a:p>
            <a:pPr lvl="1"/>
            <a:r>
              <a:rPr lang="en-US" dirty="0"/>
              <a:t>Sikkim, </a:t>
            </a:r>
            <a:r>
              <a:rPr lang="en-US" dirty="0" err="1"/>
              <a:t>Uttrakhand</a:t>
            </a:r>
            <a:r>
              <a:rPr lang="en-US" dirty="0"/>
              <a:t>, HP, Goa, Gujarat</a:t>
            </a:r>
          </a:p>
          <a:p>
            <a:r>
              <a:rPr lang="en-US" dirty="0"/>
              <a:t>Top 5 : </a:t>
            </a:r>
            <a:r>
              <a:rPr lang="en-US" dirty="0">
                <a:solidFill>
                  <a:srgbClr val="00B050"/>
                </a:solidFill>
              </a:rPr>
              <a:t>Tertiary Industry </a:t>
            </a:r>
            <a:r>
              <a:rPr lang="en-US" dirty="0"/>
              <a:t>States</a:t>
            </a:r>
          </a:p>
          <a:p>
            <a:pPr lvl="1"/>
            <a:r>
              <a:rPr lang="en-US" dirty="0"/>
              <a:t>Manipur, Bihar, Telangana, Kerala, Karnataka</a:t>
            </a:r>
          </a:p>
        </p:txBody>
      </p:sp>
      <p:sp>
        <p:nvSpPr>
          <p:cNvPr id="4" name="Text Placeholder 3">
            <a:extLst>
              <a:ext uri="{FF2B5EF4-FFF2-40B4-BE49-F238E27FC236}">
                <a16:creationId xmlns:a16="http://schemas.microsoft.com/office/drawing/2014/main" id="{8AC6D2CD-EC4D-4BE7-8F8B-5EA552651F09}"/>
              </a:ext>
            </a:extLst>
          </p:cNvPr>
          <p:cNvSpPr>
            <a:spLocks noGrp="1"/>
          </p:cNvSpPr>
          <p:nvPr>
            <p:ph type="body" sz="quarter" idx="13"/>
          </p:nvPr>
        </p:nvSpPr>
        <p:spPr/>
        <p:txBody>
          <a:bodyPr/>
          <a:lstStyle/>
          <a:p>
            <a:r>
              <a:rPr lang="en-US" dirty="0"/>
              <a:t>Task 2</a:t>
            </a:r>
          </a:p>
          <a:p>
            <a:endParaRPr lang="en-US" dirty="0"/>
          </a:p>
        </p:txBody>
      </p:sp>
    </p:spTree>
    <p:extLst>
      <p:ext uri="{BB962C8B-B14F-4D97-AF65-F5344CB8AC3E}">
        <p14:creationId xmlns:p14="http://schemas.microsoft.com/office/powerpoint/2010/main" val="628155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5FA4-9D23-4F1F-8CA9-AE9140E9E165}"/>
              </a:ext>
            </a:extLst>
          </p:cNvPr>
          <p:cNvSpPr>
            <a:spLocks noGrp="1"/>
          </p:cNvSpPr>
          <p:nvPr>
            <p:ph type="title"/>
          </p:nvPr>
        </p:nvSpPr>
        <p:spPr/>
        <p:txBody>
          <a:bodyPr/>
          <a:lstStyle/>
          <a:p>
            <a:r>
              <a:rPr lang="en-US" dirty="0"/>
              <a:t>State Specific Questions</a:t>
            </a:r>
          </a:p>
        </p:txBody>
      </p:sp>
      <p:sp>
        <p:nvSpPr>
          <p:cNvPr id="3" name="Content Placeholder 2">
            <a:extLst>
              <a:ext uri="{FF2B5EF4-FFF2-40B4-BE49-F238E27FC236}">
                <a16:creationId xmlns:a16="http://schemas.microsoft.com/office/drawing/2014/main" id="{BF64E800-3C13-4DBB-94E2-98D373567939}"/>
              </a:ext>
            </a:extLst>
          </p:cNvPr>
          <p:cNvSpPr>
            <a:spLocks noGrp="1"/>
          </p:cNvSpPr>
          <p:nvPr>
            <p:ph idx="1"/>
          </p:nvPr>
        </p:nvSpPr>
        <p:spPr/>
        <p:txBody>
          <a:bodyPr/>
          <a:lstStyle/>
          <a:p>
            <a:r>
              <a:rPr lang="en-US" dirty="0"/>
              <a:t>Why in spite of large geographical area Karnataka, MP, TN not able to generate more GDP from Crops?</a:t>
            </a:r>
          </a:p>
          <a:p>
            <a:r>
              <a:rPr lang="en-US" dirty="0"/>
              <a:t>Why naturally so rich and beautiful places like Kerala, </a:t>
            </a:r>
            <a:r>
              <a:rPr lang="en-US" dirty="0" err="1"/>
              <a:t>Uttrakhand</a:t>
            </a:r>
            <a:r>
              <a:rPr lang="en-US" dirty="0"/>
              <a:t>, North East are behind in Hotel &amp; Restaurants which are normally related to tourism?</a:t>
            </a:r>
          </a:p>
          <a:p>
            <a:r>
              <a:rPr lang="en-US" dirty="0"/>
              <a:t>Kerala 4th Rank in construction can see larger impact in future on manufacturing. Is it so?</a:t>
            </a:r>
          </a:p>
          <a:p>
            <a:r>
              <a:rPr lang="en-US" dirty="0"/>
              <a:t>How come Secondary education &amp; GDP has so strong relation?</a:t>
            </a:r>
          </a:p>
          <a:p>
            <a:endParaRPr lang="en-US" dirty="0"/>
          </a:p>
          <a:p>
            <a:endParaRPr lang="en-US" dirty="0"/>
          </a:p>
        </p:txBody>
      </p:sp>
      <p:sp>
        <p:nvSpPr>
          <p:cNvPr id="4" name="Text Placeholder 3">
            <a:extLst>
              <a:ext uri="{FF2B5EF4-FFF2-40B4-BE49-F238E27FC236}">
                <a16:creationId xmlns:a16="http://schemas.microsoft.com/office/drawing/2014/main" id="{A9ABC558-0E65-4726-B83E-DFCE3787BA16}"/>
              </a:ext>
            </a:extLst>
          </p:cNvPr>
          <p:cNvSpPr>
            <a:spLocks noGrp="1"/>
          </p:cNvSpPr>
          <p:nvPr>
            <p:ph type="body" sz="quarter" idx="13"/>
          </p:nvPr>
        </p:nvSpPr>
        <p:spPr/>
        <p:txBody>
          <a:bodyPr/>
          <a:lstStyle/>
          <a:p>
            <a:r>
              <a:rPr lang="en-US" dirty="0"/>
              <a:t>Extra</a:t>
            </a:r>
          </a:p>
        </p:txBody>
      </p:sp>
    </p:spTree>
    <p:extLst>
      <p:ext uri="{BB962C8B-B14F-4D97-AF65-F5344CB8AC3E}">
        <p14:creationId xmlns:p14="http://schemas.microsoft.com/office/powerpoint/2010/main" val="4070747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842B0-BF6B-43E2-98FD-671FA24775D8}"/>
              </a:ext>
            </a:extLst>
          </p:cNvPr>
          <p:cNvSpPr>
            <a:spLocks noGrp="1"/>
          </p:cNvSpPr>
          <p:nvPr>
            <p:ph type="title"/>
          </p:nvPr>
        </p:nvSpPr>
        <p:spPr/>
        <p:txBody>
          <a:bodyPr>
            <a:noAutofit/>
          </a:bodyPr>
          <a:lstStyle/>
          <a:p>
            <a:r>
              <a:rPr lang="en-US" sz="2400" b="1" i="1" dirty="0"/>
              <a:t>Relevant Important Questions and insights for category separately</a:t>
            </a:r>
            <a:endParaRPr lang="en-US" sz="2400" dirty="0"/>
          </a:p>
        </p:txBody>
      </p:sp>
      <p:sp>
        <p:nvSpPr>
          <p:cNvPr id="3" name="Content Placeholder 2">
            <a:extLst>
              <a:ext uri="{FF2B5EF4-FFF2-40B4-BE49-F238E27FC236}">
                <a16:creationId xmlns:a16="http://schemas.microsoft.com/office/drawing/2014/main" id="{856BB21C-4671-42E5-98EC-0E54F0576865}"/>
              </a:ext>
            </a:extLst>
          </p:cNvPr>
          <p:cNvSpPr>
            <a:spLocks noGrp="1"/>
          </p:cNvSpPr>
          <p:nvPr>
            <p:ph idx="1"/>
          </p:nvPr>
        </p:nvSpPr>
        <p:spPr/>
        <p:txBody>
          <a:bodyPr>
            <a:normAutofit fontScale="92500" lnSpcReduction="20000"/>
          </a:bodyPr>
          <a:lstStyle/>
          <a:p>
            <a:r>
              <a:rPr lang="en-US" dirty="0"/>
              <a:t>C1</a:t>
            </a:r>
          </a:p>
          <a:p>
            <a:pPr lvl="1"/>
            <a:r>
              <a:rPr lang="en-US" dirty="0"/>
              <a:t>What kind of technical training and youth involvement C1 states are do that with lowest population they have highest GDP</a:t>
            </a:r>
          </a:p>
          <a:p>
            <a:pPr lvl="1"/>
            <a:r>
              <a:rPr lang="en-US" dirty="0"/>
              <a:t>What do they do to arrest the Primary &amp; Upper Primary Edu dropout ?</a:t>
            </a:r>
          </a:p>
          <a:p>
            <a:r>
              <a:rPr lang="en-US" dirty="0"/>
              <a:t>C2</a:t>
            </a:r>
          </a:p>
          <a:p>
            <a:pPr lvl="1"/>
            <a:r>
              <a:rPr lang="en-US" dirty="0"/>
              <a:t>C2 has higher per capita GDP compare to C3 but population of C2 is also high compare to C3. What are they doing to engage their youth?</a:t>
            </a:r>
          </a:p>
          <a:p>
            <a:pPr lvl="1"/>
            <a:r>
              <a:rPr lang="en-US" dirty="0"/>
              <a:t>What do they do to arrest Primary &amp; Upper Primary education dropout?</a:t>
            </a:r>
          </a:p>
          <a:p>
            <a:r>
              <a:rPr lang="en-US" dirty="0"/>
              <a:t>C3</a:t>
            </a:r>
          </a:p>
          <a:p>
            <a:pPr lvl="1"/>
            <a:r>
              <a:rPr lang="en-US" dirty="0"/>
              <a:t>Why more subsidy for C3?</a:t>
            </a:r>
          </a:p>
          <a:p>
            <a:pPr lvl="1"/>
            <a:r>
              <a:rPr lang="en-US" dirty="0"/>
              <a:t>Why even with the low population Secondary education drop is high for C3?</a:t>
            </a:r>
          </a:p>
          <a:p>
            <a:r>
              <a:rPr lang="en-US" dirty="0"/>
              <a:t>C4</a:t>
            </a:r>
          </a:p>
          <a:p>
            <a:pPr lvl="1"/>
            <a:r>
              <a:rPr lang="en-US" dirty="0"/>
              <a:t>How come when population is high is Senior Secondary </a:t>
            </a:r>
            <a:r>
              <a:rPr lang="en-US"/>
              <a:t>education dropout </a:t>
            </a:r>
            <a:r>
              <a:rPr lang="en-US" dirty="0"/>
              <a:t>is exceptional </a:t>
            </a:r>
            <a:r>
              <a:rPr lang="en-US"/>
              <a:t>less </a:t>
            </a:r>
            <a:endParaRPr lang="en-US" dirty="0"/>
          </a:p>
          <a:p>
            <a:pPr lvl="1"/>
            <a:r>
              <a:rPr lang="en-US" dirty="0"/>
              <a:t>They have </a:t>
            </a:r>
            <a:r>
              <a:rPr lang="en-US" dirty="0" err="1"/>
              <a:t>approx</a:t>
            </a:r>
            <a:r>
              <a:rPr lang="en-US" dirty="0"/>
              <a:t> 8 times population but GDP is not even double of C1</a:t>
            </a:r>
          </a:p>
          <a:p>
            <a:pPr lvl="1"/>
            <a:r>
              <a:rPr lang="en-US" dirty="0"/>
              <a:t>Why more subsidy for C4?</a:t>
            </a:r>
          </a:p>
          <a:p>
            <a:endParaRPr lang="en-US" dirty="0"/>
          </a:p>
          <a:p>
            <a:endParaRPr lang="en-US" dirty="0"/>
          </a:p>
          <a:p>
            <a:endParaRPr lang="en-US" dirty="0"/>
          </a:p>
          <a:p>
            <a:endParaRPr lang="en-US" dirty="0"/>
          </a:p>
          <a:p>
            <a:endParaRPr lang="en-US" dirty="0"/>
          </a:p>
          <a:p>
            <a:endParaRPr lang="en-US" dirty="0"/>
          </a:p>
        </p:txBody>
      </p:sp>
      <p:sp>
        <p:nvSpPr>
          <p:cNvPr id="4" name="Text Placeholder 3">
            <a:extLst>
              <a:ext uri="{FF2B5EF4-FFF2-40B4-BE49-F238E27FC236}">
                <a16:creationId xmlns:a16="http://schemas.microsoft.com/office/drawing/2014/main" id="{FDD9C41A-1135-4493-A5E6-B9E046B32A16}"/>
              </a:ext>
            </a:extLst>
          </p:cNvPr>
          <p:cNvSpPr>
            <a:spLocks noGrp="1"/>
          </p:cNvSpPr>
          <p:nvPr>
            <p:ph type="body" sz="quarter" idx="13"/>
          </p:nvPr>
        </p:nvSpPr>
        <p:spPr/>
        <p:txBody>
          <a:bodyPr/>
          <a:lstStyle/>
          <a:p>
            <a:r>
              <a:rPr lang="en-US" dirty="0"/>
              <a:t>Task 11</a:t>
            </a:r>
          </a:p>
        </p:txBody>
      </p:sp>
    </p:spTree>
    <p:extLst>
      <p:ext uri="{BB962C8B-B14F-4D97-AF65-F5344CB8AC3E}">
        <p14:creationId xmlns:p14="http://schemas.microsoft.com/office/powerpoint/2010/main" val="3402057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55850-E59B-4620-8E08-4D0D207A68C3}"/>
              </a:ext>
            </a:extLst>
          </p:cNvPr>
          <p:cNvSpPr>
            <a:spLocks noGrp="1"/>
          </p:cNvSpPr>
          <p:nvPr>
            <p:ph type="title"/>
          </p:nvPr>
        </p:nvSpPr>
        <p:spPr/>
        <p:txBody>
          <a:bodyPr>
            <a:noAutofit/>
          </a:bodyPr>
          <a:lstStyle/>
          <a:p>
            <a:r>
              <a:rPr lang="en-US" sz="2400" b="1" i="1" dirty="0"/>
              <a:t>At least two recommendations for each category to Improve the per capita GDP</a:t>
            </a:r>
            <a:endParaRPr lang="en-US" sz="2400" dirty="0"/>
          </a:p>
        </p:txBody>
      </p:sp>
      <p:sp>
        <p:nvSpPr>
          <p:cNvPr id="3" name="Content Placeholder 2">
            <a:extLst>
              <a:ext uri="{FF2B5EF4-FFF2-40B4-BE49-F238E27FC236}">
                <a16:creationId xmlns:a16="http://schemas.microsoft.com/office/drawing/2014/main" id="{242251EC-CA3C-4490-804E-ACB33F580F4F}"/>
              </a:ext>
            </a:extLst>
          </p:cNvPr>
          <p:cNvSpPr>
            <a:spLocks noGrp="1"/>
          </p:cNvSpPr>
          <p:nvPr>
            <p:ph idx="1"/>
          </p:nvPr>
        </p:nvSpPr>
        <p:spPr/>
        <p:txBody>
          <a:bodyPr>
            <a:normAutofit/>
          </a:bodyPr>
          <a:lstStyle/>
          <a:p>
            <a:r>
              <a:rPr lang="en-US" dirty="0"/>
              <a:t>Recommendations for C1 (100 Percentile)</a:t>
            </a:r>
          </a:p>
          <a:p>
            <a:pPr lvl="1"/>
            <a:r>
              <a:rPr lang="en-US" dirty="0"/>
              <a:t>Improve Financial Services, Road Transport, Food Processing &amp; Storage related industries</a:t>
            </a:r>
          </a:p>
          <a:p>
            <a:pPr lvl="1"/>
            <a:r>
              <a:rPr lang="en-US" dirty="0"/>
              <a:t>Move towards rural development</a:t>
            </a:r>
          </a:p>
          <a:p>
            <a:r>
              <a:rPr lang="en-US" dirty="0"/>
              <a:t>Recommendations for C2 (85 Percentile)</a:t>
            </a:r>
          </a:p>
          <a:p>
            <a:pPr lvl="1"/>
            <a:r>
              <a:rPr lang="en-US" dirty="0"/>
              <a:t>Improve Hotel &amp; Restaurants, Communication, Public Administration related industries.</a:t>
            </a:r>
          </a:p>
          <a:p>
            <a:pPr lvl="1"/>
            <a:r>
              <a:rPr lang="en-US" dirty="0"/>
              <a:t>Move towards rural development</a:t>
            </a:r>
          </a:p>
          <a:p>
            <a:r>
              <a:rPr lang="en-US" dirty="0"/>
              <a:t>Recommendations for C3 (50 Percentile)</a:t>
            </a:r>
          </a:p>
          <a:p>
            <a:pPr lvl="1"/>
            <a:r>
              <a:rPr lang="en-US" dirty="0"/>
              <a:t>Move towards high manufacturing &amp; Real Estate related industries</a:t>
            </a:r>
          </a:p>
          <a:p>
            <a:pPr lvl="1"/>
            <a:r>
              <a:rPr lang="en-US" dirty="0"/>
              <a:t>Focus on Reducing Secondary Education dropout rate</a:t>
            </a:r>
          </a:p>
          <a:p>
            <a:r>
              <a:rPr lang="en-US" dirty="0"/>
              <a:t>Recommendations for C4 (20 Percentile)</a:t>
            </a:r>
          </a:p>
          <a:p>
            <a:pPr lvl="1"/>
            <a:r>
              <a:rPr lang="en-US" dirty="0"/>
              <a:t>Move towards high manufacturing &amp; Real Estate related industries</a:t>
            </a:r>
          </a:p>
          <a:p>
            <a:pPr lvl="1"/>
            <a:r>
              <a:rPr lang="en-US" dirty="0"/>
              <a:t>Focus on Reducing Secondary Education dropout rate</a:t>
            </a:r>
          </a:p>
          <a:p>
            <a:endParaRPr lang="en-US" dirty="0"/>
          </a:p>
        </p:txBody>
      </p:sp>
      <p:sp>
        <p:nvSpPr>
          <p:cNvPr id="4" name="Text Placeholder 3">
            <a:extLst>
              <a:ext uri="{FF2B5EF4-FFF2-40B4-BE49-F238E27FC236}">
                <a16:creationId xmlns:a16="http://schemas.microsoft.com/office/drawing/2014/main" id="{944D75C6-C1D0-4263-962E-D04E8B109B02}"/>
              </a:ext>
            </a:extLst>
          </p:cNvPr>
          <p:cNvSpPr>
            <a:spLocks noGrp="1"/>
          </p:cNvSpPr>
          <p:nvPr>
            <p:ph type="body" sz="quarter" idx="13"/>
          </p:nvPr>
        </p:nvSpPr>
        <p:spPr/>
        <p:txBody>
          <a:bodyPr/>
          <a:lstStyle/>
          <a:p>
            <a:r>
              <a:rPr lang="en-US" dirty="0"/>
              <a:t>Task 12</a:t>
            </a:r>
          </a:p>
        </p:txBody>
      </p:sp>
    </p:spTree>
    <p:extLst>
      <p:ext uri="{BB962C8B-B14F-4D97-AF65-F5344CB8AC3E}">
        <p14:creationId xmlns:p14="http://schemas.microsoft.com/office/powerpoint/2010/main" val="248852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46954E-6381-40DD-B752-1717D55B19BE}"/>
              </a:ext>
            </a:extLst>
          </p:cNvPr>
          <p:cNvSpPr>
            <a:spLocks noGrp="1"/>
          </p:cNvSpPr>
          <p:nvPr>
            <p:ph type="title"/>
          </p:nvPr>
        </p:nvSpPr>
        <p:spPr/>
        <p:txBody>
          <a:bodyPr/>
          <a:lstStyle/>
          <a:p>
            <a:r>
              <a:rPr lang="en-US" b="1" dirty="0"/>
              <a:t>Part 2 : GDP and Education Drop-out Rates</a:t>
            </a:r>
            <a:endParaRPr lang="en-US" dirty="0"/>
          </a:p>
        </p:txBody>
      </p:sp>
      <p:sp>
        <p:nvSpPr>
          <p:cNvPr id="6" name="Text Placeholder 5">
            <a:extLst>
              <a:ext uri="{FF2B5EF4-FFF2-40B4-BE49-F238E27FC236}">
                <a16:creationId xmlns:a16="http://schemas.microsoft.com/office/drawing/2014/main" id="{65FC3C21-2766-46F1-8594-CA2A8B54B06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259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739F2-4073-49B5-8084-CB7A57B03C57}"/>
              </a:ext>
            </a:extLst>
          </p:cNvPr>
          <p:cNvSpPr>
            <a:spLocks noGrp="1"/>
          </p:cNvSpPr>
          <p:nvPr>
            <p:ph type="title"/>
          </p:nvPr>
        </p:nvSpPr>
        <p:spPr/>
        <p:txBody>
          <a:bodyPr/>
          <a:lstStyle/>
          <a:p>
            <a:r>
              <a:rPr lang="en-US" dirty="0"/>
              <a:t>Education Dropout Rate % - 2012-15</a:t>
            </a:r>
          </a:p>
        </p:txBody>
      </p:sp>
      <p:sp>
        <p:nvSpPr>
          <p:cNvPr id="3" name="Text Placeholder 2">
            <a:extLst>
              <a:ext uri="{FF2B5EF4-FFF2-40B4-BE49-F238E27FC236}">
                <a16:creationId xmlns:a16="http://schemas.microsoft.com/office/drawing/2014/main" id="{CF8852F6-9860-497C-88A6-A8AF8D005B26}"/>
              </a:ext>
            </a:extLst>
          </p:cNvPr>
          <p:cNvSpPr>
            <a:spLocks noGrp="1"/>
          </p:cNvSpPr>
          <p:nvPr>
            <p:ph type="body" sz="quarter" idx="13"/>
          </p:nvPr>
        </p:nvSpPr>
        <p:spPr/>
        <p:txBody>
          <a:bodyPr/>
          <a:lstStyle/>
          <a:p>
            <a:endParaRPr lang="en-US"/>
          </a:p>
        </p:txBody>
      </p:sp>
      <p:pic>
        <p:nvPicPr>
          <p:cNvPr id="2050" name="Picture 2">
            <a:extLst>
              <a:ext uri="{FF2B5EF4-FFF2-40B4-BE49-F238E27FC236}">
                <a16:creationId xmlns:a16="http://schemas.microsoft.com/office/drawing/2014/main" id="{D0B36BBA-AAD5-4FA7-A471-A2731EB1A5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8908" y="116632"/>
            <a:ext cx="10094136" cy="6552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9404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0DB39-DA2C-4E50-8596-83B6ADC26398}"/>
              </a:ext>
            </a:extLst>
          </p:cNvPr>
          <p:cNvSpPr>
            <a:spLocks noGrp="1"/>
          </p:cNvSpPr>
          <p:nvPr>
            <p:ph type="title"/>
          </p:nvPr>
        </p:nvSpPr>
        <p:spPr/>
        <p:txBody>
          <a:bodyPr/>
          <a:lstStyle/>
          <a:p>
            <a:r>
              <a:rPr lang="en-US" dirty="0"/>
              <a:t>Education Dropout Rate % - 2014-15</a:t>
            </a:r>
          </a:p>
        </p:txBody>
      </p:sp>
      <p:sp>
        <p:nvSpPr>
          <p:cNvPr id="3" name="Text Placeholder 2">
            <a:extLst>
              <a:ext uri="{FF2B5EF4-FFF2-40B4-BE49-F238E27FC236}">
                <a16:creationId xmlns:a16="http://schemas.microsoft.com/office/drawing/2014/main" id="{2FFD6327-57AE-4C84-AD08-38D80B17B025}"/>
              </a:ext>
            </a:extLst>
          </p:cNvPr>
          <p:cNvSpPr>
            <a:spLocks noGrp="1"/>
          </p:cNvSpPr>
          <p:nvPr>
            <p:ph type="body" sz="quarter" idx="13"/>
          </p:nvPr>
        </p:nvSpPr>
        <p:spPr/>
        <p:txBody>
          <a:bodyPr/>
          <a:lstStyle/>
          <a:p>
            <a:endParaRPr lang="en-US"/>
          </a:p>
        </p:txBody>
      </p:sp>
      <p:pic>
        <p:nvPicPr>
          <p:cNvPr id="3074" name="Picture 2">
            <a:extLst>
              <a:ext uri="{FF2B5EF4-FFF2-40B4-BE49-F238E27FC236}">
                <a16:creationId xmlns:a16="http://schemas.microsoft.com/office/drawing/2014/main" id="{1844B062-7396-4CE0-BCA7-68396CE92E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9915" y="72278"/>
            <a:ext cx="10081121" cy="6669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2571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1E469-90E1-46C2-BA25-1CF014E46EB0}"/>
              </a:ext>
            </a:extLst>
          </p:cNvPr>
          <p:cNvSpPr>
            <a:spLocks noGrp="1"/>
          </p:cNvSpPr>
          <p:nvPr>
            <p:ph type="title"/>
          </p:nvPr>
        </p:nvSpPr>
        <p:spPr/>
        <p:txBody>
          <a:bodyPr>
            <a:normAutofit/>
          </a:bodyPr>
          <a:lstStyle/>
          <a:p>
            <a:pPr algn="r"/>
            <a:r>
              <a:rPr lang="en-US" sz="2400" dirty="0"/>
              <a:t>This is Very Interesting Graph</a:t>
            </a:r>
          </a:p>
        </p:txBody>
      </p:sp>
      <p:sp>
        <p:nvSpPr>
          <p:cNvPr id="3" name="Text Placeholder 2">
            <a:extLst>
              <a:ext uri="{FF2B5EF4-FFF2-40B4-BE49-F238E27FC236}">
                <a16:creationId xmlns:a16="http://schemas.microsoft.com/office/drawing/2014/main" id="{43F24064-BCD4-422D-A7BC-F40D174413B6}"/>
              </a:ext>
            </a:extLst>
          </p:cNvPr>
          <p:cNvSpPr>
            <a:spLocks noGrp="1"/>
          </p:cNvSpPr>
          <p:nvPr>
            <p:ph type="body" sz="quarter" idx="13"/>
          </p:nvPr>
        </p:nvSpPr>
        <p:spPr/>
        <p:txBody>
          <a:bodyPr/>
          <a:lstStyle/>
          <a:p>
            <a:r>
              <a:rPr lang="en-US" dirty="0"/>
              <a:t>Insight</a:t>
            </a:r>
          </a:p>
        </p:txBody>
      </p:sp>
      <p:pic>
        <p:nvPicPr>
          <p:cNvPr id="5" name="Picture 4">
            <a:extLst>
              <a:ext uri="{FF2B5EF4-FFF2-40B4-BE49-F238E27FC236}">
                <a16:creationId xmlns:a16="http://schemas.microsoft.com/office/drawing/2014/main" id="{5F2D6DFB-F3D6-4437-B54B-A0A1A65C34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7621194" y="2127034"/>
            <a:ext cx="6267451" cy="2600325"/>
          </a:xfrm>
          <a:prstGeom prst="rect">
            <a:avLst/>
          </a:prstGeom>
          <a:noFill/>
          <a:extLst>
            <a:ext uri="{909E8E84-426E-40DD-AFC4-6F175D3DCCD1}">
              <a14:hiddenFill xmlns:a14="http://schemas.microsoft.com/office/drawing/2010/main">
                <a:solidFill>
                  <a:srgbClr val="FFFFFF"/>
                </a:solidFill>
              </a14:hiddenFill>
            </a:ext>
          </a:extLst>
        </p:spPr>
      </p:pic>
      <p:pic>
        <p:nvPicPr>
          <p:cNvPr id="32770" name="Picture 2">
            <a:extLst>
              <a:ext uri="{FF2B5EF4-FFF2-40B4-BE49-F238E27FC236}">
                <a16:creationId xmlns:a16="http://schemas.microsoft.com/office/drawing/2014/main" id="{951513C4-5705-4CB4-93FB-3C6A496A3E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836" y="293472"/>
            <a:ext cx="8439150" cy="6267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5436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A89127-7CD6-4EA9-96F5-BE021956A74B}"/>
              </a:ext>
            </a:extLst>
          </p:cNvPr>
          <p:cNvSpPr>
            <a:spLocks noGrp="1"/>
          </p:cNvSpPr>
          <p:nvPr>
            <p:ph type="title"/>
          </p:nvPr>
        </p:nvSpPr>
        <p:spPr>
          <a:xfrm>
            <a:off x="0" y="836712"/>
            <a:ext cx="946558" cy="6021288"/>
          </a:xfrm>
        </p:spPr>
        <p:txBody>
          <a:bodyPr>
            <a:normAutofit/>
          </a:bodyPr>
          <a:lstStyle/>
          <a:p>
            <a:r>
              <a:rPr lang="en-US" sz="2400" b="1" dirty="0"/>
              <a:t>GDP/Capita to Education Dropout</a:t>
            </a:r>
          </a:p>
        </p:txBody>
      </p:sp>
      <p:sp>
        <p:nvSpPr>
          <p:cNvPr id="6" name="Text Placeholder 5">
            <a:extLst>
              <a:ext uri="{FF2B5EF4-FFF2-40B4-BE49-F238E27FC236}">
                <a16:creationId xmlns:a16="http://schemas.microsoft.com/office/drawing/2014/main" id="{ADFEA83E-A90F-433D-B23F-2479F83CC023}"/>
              </a:ext>
            </a:extLst>
          </p:cNvPr>
          <p:cNvSpPr>
            <a:spLocks noGrp="1"/>
          </p:cNvSpPr>
          <p:nvPr>
            <p:ph type="body" sz="quarter" idx="13"/>
          </p:nvPr>
        </p:nvSpPr>
        <p:spPr/>
        <p:txBody>
          <a:bodyPr/>
          <a:lstStyle/>
          <a:p>
            <a:r>
              <a:rPr lang="en-US" dirty="0"/>
              <a:t>Task 1</a:t>
            </a:r>
          </a:p>
        </p:txBody>
      </p:sp>
      <p:sp>
        <p:nvSpPr>
          <p:cNvPr id="5" name="Arrow: Up 4">
            <a:extLst>
              <a:ext uri="{FF2B5EF4-FFF2-40B4-BE49-F238E27FC236}">
                <a16:creationId xmlns:a16="http://schemas.microsoft.com/office/drawing/2014/main" id="{20E7B68C-A337-4ED9-9F6A-0D4432FF5D88}"/>
              </a:ext>
            </a:extLst>
          </p:cNvPr>
          <p:cNvSpPr/>
          <p:nvPr/>
        </p:nvSpPr>
        <p:spPr>
          <a:xfrm>
            <a:off x="5086300" y="1806403"/>
            <a:ext cx="144016" cy="4536504"/>
          </a:xfrm>
          <a:prstGeom prst="upArrow">
            <a:avLst/>
          </a:prstGeom>
          <a:solidFill>
            <a:schemeClr val="accent4">
              <a:shade val="80000"/>
              <a:satMod val="150000"/>
              <a:alpha val="67000"/>
            </a:schemeClr>
          </a:solidFill>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p>
        </p:txBody>
      </p:sp>
      <p:sp>
        <p:nvSpPr>
          <p:cNvPr id="8" name="Arrow: Up 7">
            <a:extLst>
              <a:ext uri="{FF2B5EF4-FFF2-40B4-BE49-F238E27FC236}">
                <a16:creationId xmlns:a16="http://schemas.microsoft.com/office/drawing/2014/main" id="{B8F164AE-8421-4280-ABBA-64E3A66DDE44}"/>
              </a:ext>
            </a:extLst>
          </p:cNvPr>
          <p:cNvSpPr/>
          <p:nvPr/>
        </p:nvSpPr>
        <p:spPr>
          <a:xfrm>
            <a:off x="6958508" y="1687754"/>
            <a:ext cx="144016" cy="4536504"/>
          </a:xfrm>
          <a:prstGeom prst="upArrow">
            <a:avLst/>
          </a:prstGeom>
          <a:solidFill>
            <a:schemeClr val="accent4">
              <a:shade val="80000"/>
              <a:satMod val="150000"/>
              <a:alpha val="67000"/>
            </a:schemeClr>
          </a:solidFill>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p>
        </p:txBody>
      </p:sp>
      <p:sp>
        <p:nvSpPr>
          <p:cNvPr id="9" name="Arrow: Up 8">
            <a:extLst>
              <a:ext uri="{FF2B5EF4-FFF2-40B4-BE49-F238E27FC236}">
                <a16:creationId xmlns:a16="http://schemas.microsoft.com/office/drawing/2014/main" id="{39F010C1-9F30-4802-A4F8-21C008147CA6}"/>
              </a:ext>
            </a:extLst>
          </p:cNvPr>
          <p:cNvSpPr/>
          <p:nvPr/>
        </p:nvSpPr>
        <p:spPr>
          <a:xfrm>
            <a:off x="8830716" y="1725775"/>
            <a:ext cx="144016" cy="4536504"/>
          </a:xfrm>
          <a:prstGeom prst="upArrow">
            <a:avLst/>
          </a:prstGeom>
          <a:solidFill>
            <a:schemeClr val="accent4">
              <a:shade val="80000"/>
              <a:satMod val="150000"/>
              <a:alpha val="67000"/>
            </a:schemeClr>
          </a:solidFill>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p>
        </p:txBody>
      </p:sp>
      <p:sp>
        <p:nvSpPr>
          <p:cNvPr id="10" name="Arrow: Up 9">
            <a:extLst>
              <a:ext uri="{FF2B5EF4-FFF2-40B4-BE49-F238E27FC236}">
                <a16:creationId xmlns:a16="http://schemas.microsoft.com/office/drawing/2014/main" id="{C66339D9-6356-4E49-83F8-A4690C89DD04}"/>
              </a:ext>
            </a:extLst>
          </p:cNvPr>
          <p:cNvSpPr/>
          <p:nvPr/>
        </p:nvSpPr>
        <p:spPr>
          <a:xfrm>
            <a:off x="10846940" y="1725775"/>
            <a:ext cx="144016" cy="4536504"/>
          </a:xfrm>
          <a:prstGeom prst="upArrow">
            <a:avLst/>
          </a:prstGeom>
          <a:solidFill>
            <a:schemeClr val="accent4">
              <a:shade val="80000"/>
              <a:satMod val="150000"/>
              <a:alpha val="67000"/>
            </a:schemeClr>
          </a:solidFill>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p>
        </p:txBody>
      </p:sp>
      <p:pic>
        <p:nvPicPr>
          <p:cNvPr id="23554" name="Picture 2">
            <a:extLst>
              <a:ext uri="{FF2B5EF4-FFF2-40B4-BE49-F238E27FC236}">
                <a16:creationId xmlns:a16="http://schemas.microsoft.com/office/drawing/2014/main" id="{2BB96024-5D5E-4DEB-842A-D7880175DD7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0" t="-1162" r="-350" b="-1162"/>
          <a:stretch/>
        </p:blipFill>
        <p:spPr bwMode="auto">
          <a:xfrm>
            <a:off x="1485900" y="297860"/>
            <a:ext cx="10513168" cy="62622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9336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B640B-54E7-42A8-92B7-973F60CDCEB5}"/>
              </a:ext>
            </a:extLst>
          </p:cNvPr>
          <p:cNvSpPr>
            <a:spLocks noGrp="1"/>
          </p:cNvSpPr>
          <p:nvPr>
            <p:ph type="title"/>
          </p:nvPr>
        </p:nvSpPr>
        <p:spPr/>
        <p:txBody>
          <a:bodyPr/>
          <a:lstStyle/>
          <a:p>
            <a:r>
              <a:rPr lang="en-US" b="1" dirty="0"/>
              <a:t>GDP Growth Rate to Education Dropout</a:t>
            </a:r>
          </a:p>
        </p:txBody>
      </p:sp>
      <p:sp>
        <p:nvSpPr>
          <p:cNvPr id="3" name="Text Placeholder 2">
            <a:extLst>
              <a:ext uri="{FF2B5EF4-FFF2-40B4-BE49-F238E27FC236}">
                <a16:creationId xmlns:a16="http://schemas.microsoft.com/office/drawing/2014/main" id="{F778D327-1F0D-4E4F-AB1B-FA15A4417E0F}"/>
              </a:ext>
            </a:extLst>
          </p:cNvPr>
          <p:cNvSpPr>
            <a:spLocks noGrp="1"/>
          </p:cNvSpPr>
          <p:nvPr>
            <p:ph type="body" sz="quarter" idx="13"/>
          </p:nvPr>
        </p:nvSpPr>
        <p:spPr/>
        <p:txBody>
          <a:bodyPr/>
          <a:lstStyle/>
          <a:p>
            <a:endParaRPr lang="en-US"/>
          </a:p>
        </p:txBody>
      </p:sp>
      <p:pic>
        <p:nvPicPr>
          <p:cNvPr id="24578" name="Picture 2">
            <a:extLst>
              <a:ext uri="{FF2B5EF4-FFF2-40B4-BE49-F238E27FC236}">
                <a16:creationId xmlns:a16="http://schemas.microsoft.com/office/drawing/2014/main" id="{64E142D3-905E-4E94-945E-2F237078B074}"/>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colorTemperature colorTemp="6100"/>
                    </a14:imgEffect>
                  </a14:imgLayer>
                </a14:imgProps>
              </a:ext>
              <a:ext uri="{28A0092B-C50C-407E-A947-70E740481C1C}">
                <a14:useLocalDpi xmlns:a14="http://schemas.microsoft.com/office/drawing/2010/main" val="0"/>
              </a:ext>
            </a:extLst>
          </a:blip>
          <a:srcRect t="-645" b="-645"/>
          <a:stretch/>
        </p:blipFill>
        <p:spPr bwMode="auto">
          <a:xfrm>
            <a:off x="1485900" y="260648"/>
            <a:ext cx="10441160" cy="619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6399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848FB-4E4A-4AD9-964A-2730D641546E}"/>
              </a:ext>
            </a:extLst>
          </p:cNvPr>
          <p:cNvSpPr>
            <a:spLocks noGrp="1"/>
          </p:cNvSpPr>
          <p:nvPr>
            <p:ph type="title"/>
          </p:nvPr>
        </p:nvSpPr>
        <p:spPr/>
        <p:txBody>
          <a:bodyPr/>
          <a:lstStyle/>
          <a:p>
            <a:r>
              <a:rPr lang="en-US" b="1" dirty="0"/>
              <a:t>Population to Education Dropout</a:t>
            </a:r>
          </a:p>
        </p:txBody>
      </p:sp>
      <p:sp>
        <p:nvSpPr>
          <p:cNvPr id="3" name="Text Placeholder 2">
            <a:extLst>
              <a:ext uri="{FF2B5EF4-FFF2-40B4-BE49-F238E27FC236}">
                <a16:creationId xmlns:a16="http://schemas.microsoft.com/office/drawing/2014/main" id="{527516F5-FC01-4868-825B-EF54C0391519}"/>
              </a:ext>
            </a:extLst>
          </p:cNvPr>
          <p:cNvSpPr>
            <a:spLocks noGrp="1"/>
          </p:cNvSpPr>
          <p:nvPr>
            <p:ph type="body" sz="quarter" idx="13"/>
          </p:nvPr>
        </p:nvSpPr>
        <p:spPr/>
        <p:txBody>
          <a:bodyPr/>
          <a:lstStyle/>
          <a:p>
            <a:endParaRPr lang="en-US"/>
          </a:p>
        </p:txBody>
      </p:sp>
      <p:pic>
        <p:nvPicPr>
          <p:cNvPr id="25602" name="Picture 2">
            <a:extLst>
              <a:ext uri="{FF2B5EF4-FFF2-40B4-BE49-F238E27FC236}">
                <a16:creationId xmlns:a16="http://schemas.microsoft.com/office/drawing/2014/main" id="{F2584657-C7C4-423B-96D9-4180B4D03CC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9" t="-308" r="339" b="-308"/>
          <a:stretch/>
        </p:blipFill>
        <p:spPr bwMode="auto">
          <a:xfrm>
            <a:off x="1557908" y="335085"/>
            <a:ext cx="10369152" cy="61576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3785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22DFF-3A59-4F8A-B7EA-1335393B2610}"/>
              </a:ext>
            </a:extLst>
          </p:cNvPr>
          <p:cNvSpPr>
            <a:spLocks noGrp="1"/>
          </p:cNvSpPr>
          <p:nvPr>
            <p:ph type="title"/>
          </p:nvPr>
        </p:nvSpPr>
        <p:spPr/>
        <p:txBody>
          <a:bodyPr>
            <a:normAutofit/>
          </a:bodyPr>
          <a:lstStyle/>
          <a:p>
            <a:r>
              <a:rPr lang="en-US" sz="2400" b="1" dirty="0"/>
              <a:t>GSDP to Education Dropout</a:t>
            </a:r>
            <a:endParaRPr lang="en-US" sz="2400" dirty="0"/>
          </a:p>
        </p:txBody>
      </p:sp>
      <p:sp>
        <p:nvSpPr>
          <p:cNvPr id="3" name="Text Placeholder 2">
            <a:extLst>
              <a:ext uri="{FF2B5EF4-FFF2-40B4-BE49-F238E27FC236}">
                <a16:creationId xmlns:a16="http://schemas.microsoft.com/office/drawing/2014/main" id="{851EE771-C0E7-4071-9EC5-BC6C54AA54FA}"/>
              </a:ext>
            </a:extLst>
          </p:cNvPr>
          <p:cNvSpPr>
            <a:spLocks noGrp="1"/>
          </p:cNvSpPr>
          <p:nvPr>
            <p:ph type="body" sz="quarter" idx="13"/>
          </p:nvPr>
        </p:nvSpPr>
        <p:spPr/>
        <p:txBody>
          <a:bodyPr/>
          <a:lstStyle/>
          <a:p>
            <a:r>
              <a:rPr lang="en-US" dirty="0"/>
              <a:t>Extra</a:t>
            </a:r>
          </a:p>
        </p:txBody>
      </p:sp>
      <p:pic>
        <p:nvPicPr>
          <p:cNvPr id="26626" name="Picture 2">
            <a:extLst>
              <a:ext uri="{FF2B5EF4-FFF2-40B4-BE49-F238E27FC236}">
                <a16:creationId xmlns:a16="http://schemas.microsoft.com/office/drawing/2014/main" id="{8A9D5C6F-6D2F-4A08-8A3B-DF2AAB233D6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0" t="-1547" r="-350" b="-1547"/>
          <a:stretch/>
        </p:blipFill>
        <p:spPr bwMode="auto">
          <a:xfrm>
            <a:off x="1440000" y="360000"/>
            <a:ext cx="10513168" cy="6309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6171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E86D3-6360-48B8-9AB4-FE72A6D60E49}"/>
              </a:ext>
            </a:extLst>
          </p:cNvPr>
          <p:cNvSpPr>
            <a:spLocks noGrp="1"/>
          </p:cNvSpPr>
          <p:nvPr>
            <p:ph type="title"/>
          </p:nvPr>
        </p:nvSpPr>
        <p:spPr/>
        <p:txBody>
          <a:bodyPr>
            <a:normAutofit/>
          </a:bodyPr>
          <a:lstStyle/>
          <a:p>
            <a:r>
              <a:rPr lang="en-US" sz="2400" b="1" dirty="0"/>
              <a:t>Primary Sector GDP to Education Dropout</a:t>
            </a:r>
            <a:endParaRPr lang="en-US" sz="2400" dirty="0"/>
          </a:p>
        </p:txBody>
      </p:sp>
      <p:sp>
        <p:nvSpPr>
          <p:cNvPr id="3" name="Text Placeholder 2">
            <a:extLst>
              <a:ext uri="{FF2B5EF4-FFF2-40B4-BE49-F238E27FC236}">
                <a16:creationId xmlns:a16="http://schemas.microsoft.com/office/drawing/2014/main" id="{CD7EA1C3-B362-4A8C-93B0-343B5002C2A4}"/>
              </a:ext>
            </a:extLst>
          </p:cNvPr>
          <p:cNvSpPr>
            <a:spLocks noGrp="1"/>
          </p:cNvSpPr>
          <p:nvPr>
            <p:ph type="body" sz="quarter" idx="13"/>
          </p:nvPr>
        </p:nvSpPr>
        <p:spPr/>
        <p:txBody>
          <a:bodyPr/>
          <a:lstStyle/>
          <a:p>
            <a:r>
              <a:rPr lang="en-US" dirty="0"/>
              <a:t>Extra</a:t>
            </a:r>
          </a:p>
        </p:txBody>
      </p:sp>
      <p:pic>
        <p:nvPicPr>
          <p:cNvPr id="27650" name="Picture 2">
            <a:extLst>
              <a:ext uri="{FF2B5EF4-FFF2-40B4-BE49-F238E27FC236}">
                <a16:creationId xmlns:a16="http://schemas.microsoft.com/office/drawing/2014/main" id="{E6DB1D22-9545-41B8-AE27-698428A898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80" b="280"/>
          <a:stretch/>
        </p:blipFill>
        <p:spPr bwMode="auto">
          <a:xfrm>
            <a:off x="1440000" y="360000"/>
            <a:ext cx="10441160" cy="6085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552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6DE23-555B-4A13-AD50-215DC022C0A9}"/>
              </a:ext>
            </a:extLst>
          </p:cNvPr>
          <p:cNvSpPr>
            <a:spLocks noGrp="1"/>
          </p:cNvSpPr>
          <p:nvPr>
            <p:ph type="title"/>
          </p:nvPr>
        </p:nvSpPr>
        <p:spPr/>
        <p:txBody>
          <a:bodyPr/>
          <a:lstStyle/>
          <a:p>
            <a:r>
              <a:rPr lang="en-US" sz="2000" b="1" dirty="0"/>
              <a:t>Secondary Sector GDP to Education Dropout</a:t>
            </a:r>
            <a:endParaRPr lang="en-US" dirty="0"/>
          </a:p>
        </p:txBody>
      </p:sp>
      <p:sp>
        <p:nvSpPr>
          <p:cNvPr id="3" name="Text Placeholder 2">
            <a:extLst>
              <a:ext uri="{FF2B5EF4-FFF2-40B4-BE49-F238E27FC236}">
                <a16:creationId xmlns:a16="http://schemas.microsoft.com/office/drawing/2014/main" id="{B59493C9-7059-4C5F-8B88-86BB0E68B5CC}"/>
              </a:ext>
            </a:extLst>
          </p:cNvPr>
          <p:cNvSpPr>
            <a:spLocks noGrp="1"/>
          </p:cNvSpPr>
          <p:nvPr>
            <p:ph type="body" sz="quarter" idx="13"/>
          </p:nvPr>
        </p:nvSpPr>
        <p:spPr/>
        <p:txBody>
          <a:bodyPr/>
          <a:lstStyle/>
          <a:p>
            <a:endParaRPr lang="en-US"/>
          </a:p>
        </p:txBody>
      </p:sp>
      <p:pic>
        <p:nvPicPr>
          <p:cNvPr id="28674" name="Picture 2">
            <a:extLst>
              <a:ext uri="{FF2B5EF4-FFF2-40B4-BE49-F238E27FC236}">
                <a16:creationId xmlns:a16="http://schemas.microsoft.com/office/drawing/2014/main" id="{817A5EFD-A462-4C2F-9374-B4BB26EEE83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9" t="280" r="339" b="280"/>
          <a:stretch/>
        </p:blipFill>
        <p:spPr bwMode="auto">
          <a:xfrm>
            <a:off x="1485900" y="360000"/>
            <a:ext cx="10369152" cy="6085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9127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00D17-A6BF-46E5-9C90-60ED96D10DC7}"/>
              </a:ext>
            </a:extLst>
          </p:cNvPr>
          <p:cNvSpPr>
            <a:spLocks noGrp="1"/>
          </p:cNvSpPr>
          <p:nvPr>
            <p:ph type="title"/>
          </p:nvPr>
        </p:nvSpPr>
        <p:spPr/>
        <p:txBody>
          <a:bodyPr/>
          <a:lstStyle/>
          <a:p>
            <a:r>
              <a:rPr lang="en-US" sz="2000" b="1" dirty="0"/>
              <a:t>Tertiary Sector GDP to Education Dropout</a:t>
            </a:r>
            <a:endParaRPr lang="en-US" dirty="0"/>
          </a:p>
        </p:txBody>
      </p:sp>
      <p:sp>
        <p:nvSpPr>
          <p:cNvPr id="3" name="Text Placeholder 2">
            <a:extLst>
              <a:ext uri="{FF2B5EF4-FFF2-40B4-BE49-F238E27FC236}">
                <a16:creationId xmlns:a16="http://schemas.microsoft.com/office/drawing/2014/main" id="{DC7CEBB1-6120-4AEF-AFEA-6B9021F01FA3}"/>
              </a:ext>
            </a:extLst>
          </p:cNvPr>
          <p:cNvSpPr>
            <a:spLocks noGrp="1"/>
          </p:cNvSpPr>
          <p:nvPr>
            <p:ph type="body" sz="quarter" idx="13"/>
          </p:nvPr>
        </p:nvSpPr>
        <p:spPr/>
        <p:txBody>
          <a:bodyPr/>
          <a:lstStyle/>
          <a:p>
            <a:endParaRPr lang="en-US"/>
          </a:p>
        </p:txBody>
      </p:sp>
      <p:pic>
        <p:nvPicPr>
          <p:cNvPr id="29698" name="Picture 2">
            <a:extLst>
              <a:ext uri="{FF2B5EF4-FFF2-40B4-BE49-F238E27FC236}">
                <a16:creationId xmlns:a16="http://schemas.microsoft.com/office/drawing/2014/main" id="{F0CA3862-BA7B-4ED2-8678-2145D63B307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40" t="280" r="-1040" b="280"/>
          <a:stretch/>
        </p:blipFill>
        <p:spPr bwMode="auto">
          <a:xfrm>
            <a:off x="1341884" y="360000"/>
            <a:ext cx="10657184" cy="6085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343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3CE447-2DA9-4259-8B66-B0B33CEAEEAB}"/>
              </a:ext>
            </a:extLst>
          </p:cNvPr>
          <p:cNvSpPr>
            <a:spLocks noGrp="1"/>
          </p:cNvSpPr>
          <p:nvPr>
            <p:ph type="title"/>
          </p:nvPr>
        </p:nvSpPr>
        <p:spPr/>
        <p:txBody>
          <a:bodyPr/>
          <a:lstStyle/>
          <a:p>
            <a:r>
              <a:rPr lang="en-US" dirty="0"/>
              <a:t>Sector wise Observations</a:t>
            </a:r>
          </a:p>
        </p:txBody>
      </p:sp>
      <p:sp>
        <p:nvSpPr>
          <p:cNvPr id="5" name="Content Placeholder 4">
            <a:extLst>
              <a:ext uri="{FF2B5EF4-FFF2-40B4-BE49-F238E27FC236}">
                <a16:creationId xmlns:a16="http://schemas.microsoft.com/office/drawing/2014/main" id="{49F38C3F-B99C-44DA-9A2F-251736CFBCA5}"/>
              </a:ext>
            </a:extLst>
          </p:cNvPr>
          <p:cNvSpPr>
            <a:spLocks noGrp="1"/>
          </p:cNvSpPr>
          <p:nvPr>
            <p:ph idx="1"/>
          </p:nvPr>
        </p:nvSpPr>
        <p:spPr/>
        <p:txBody>
          <a:bodyPr>
            <a:normAutofit lnSpcReduction="10000"/>
          </a:bodyPr>
          <a:lstStyle/>
          <a:p>
            <a:r>
              <a:rPr lang="en-US" dirty="0"/>
              <a:t>C1 &amp; C2 Overall Education dropout is less </a:t>
            </a:r>
          </a:p>
          <a:p>
            <a:r>
              <a:rPr lang="en-US" dirty="0"/>
              <a:t>C3 &amp; C4 Overall Education dropout is very high</a:t>
            </a:r>
          </a:p>
          <a:p>
            <a:r>
              <a:rPr lang="en-US" dirty="0"/>
              <a:t>C3 &amp; C4 States has unusual high Secondary Edu. Dropout</a:t>
            </a:r>
          </a:p>
          <a:p>
            <a:r>
              <a:rPr lang="en-US" dirty="0"/>
              <a:t>C3 &amp; C4 States getting more subsidy compare to C1 &amp; C2 states</a:t>
            </a:r>
          </a:p>
          <a:p>
            <a:r>
              <a:rPr lang="en-US" dirty="0"/>
              <a:t>C4 States has least dropout rate for Senior Secondary and Upper Secondary Edu.</a:t>
            </a:r>
          </a:p>
          <a:p>
            <a:r>
              <a:rPr lang="en-US" dirty="0"/>
              <a:t>C2 States: GSDP is more but Secondary &amp; Sr. Secondary Education dropout is high of C2 states</a:t>
            </a:r>
          </a:p>
          <a:p>
            <a:r>
              <a:rPr lang="en-US" dirty="0"/>
              <a:t>C4 States has overall high growth rate</a:t>
            </a:r>
          </a:p>
          <a:p>
            <a:r>
              <a:rPr lang="en-US" dirty="0"/>
              <a:t>C1 States has lower growth rate</a:t>
            </a:r>
          </a:p>
          <a:p>
            <a:r>
              <a:rPr lang="en-US" dirty="0"/>
              <a:t>Overall growth rate there is not much significant difference between all 4 categories</a:t>
            </a:r>
          </a:p>
          <a:p>
            <a:endParaRPr lang="en-US" dirty="0"/>
          </a:p>
          <a:p>
            <a:endParaRPr lang="en-US" dirty="0"/>
          </a:p>
          <a:p>
            <a:endParaRPr lang="en-US" dirty="0"/>
          </a:p>
        </p:txBody>
      </p:sp>
      <p:sp>
        <p:nvSpPr>
          <p:cNvPr id="6" name="Text Placeholder 5">
            <a:extLst>
              <a:ext uri="{FF2B5EF4-FFF2-40B4-BE49-F238E27FC236}">
                <a16:creationId xmlns:a16="http://schemas.microsoft.com/office/drawing/2014/main" id="{2D429D12-8215-4293-A636-D5A6E88E09D2}"/>
              </a:ext>
            </a:extLst>
          </p:cNvPr>
          <p:cNvSpPr>
            <a:spLocks noGrp="1"/>
          </p:cNvSpPr>
          <p:nvPr>
            <p:ph type="body" sz="quarter" idx="13"/>
          </p:nvPr>
        </p:nvSpPr>
        <p:spPr/>
        <p:txBody>
          <a:bodyPr/>
          <a:lstStyle/>
          <a:p>
            <a:r>
              <a:rPr lang="en-US" dirty="0"/>
              <a:t>Insight</a:t>
            </a:r>
          </a:p>
        </p:txBody>
      </p:sp>
    </p:spTree>
    <p:extLst>
      <p:ext uri="{BB962C8B-B14F-4D97-AF65-F5344CB8AC3E}">
        <p14:creationId xmlns:p14="http://schemas.microsoft.com/office/powerpoint/2010/main" val="2210626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FA3D0B-1EFD-4B63-B25C-E100876031FC}"/>
              </a:ext>
            </a:extLst>
          </p:cNvPr>
          <p:cNvSpPr>
            <a:spLocks noGrp="1"/>
          </p:cNvSpPr>
          <p:nvPr>
            <p:ph type="title"/>
          </p:nvPr>
        </p:nvSpPr>
        <p:spPr/>
        <p:txBody>
          <a:bodyPr/>
          <a:lstStyle/>
          <a:p>
            <a:r>
              <a:rPr lang="en-US" dirty="0"/>
              <a:t>Observations of GDP &amp; Edu. Dropout Relation</a:t>
            </a:r>
          </a:p>
        </p:txBody>
      </p:sp>
      <p:sp>
        <p:nvSpPr>
          <p:cNvPr id="5" name="Content Placeholder 4">
            <a:extLst>
              <a:ext uri="{FF2B5EF4-FFF2-40B4-BE49-F238E27FC236}">
                <a16:creationId xmlns:a16="http://schemas.microsoft.com/office/drawing/2014/main" id="{2B8711D9-1BCD-45CC-8903-9BCDCD86742D}"/>
              </a:ext>
            </a:extLst>
          </p:cNvPr>
          <p:cNvSpPr>
            <a:spLocks noGrp="1"/>
          </p:cNvSpPr>
          <p:nvPr>
            <p:ph idx="1"/>
          </p:nvPr>
        </p:nvSpPr>
        <p:spPr>
          <a:xfrm>
            <a:off x="333772" y="1196752"/>
            <a:ext cx="11737304" cy="5184576"/>
          </a:xfrm>
        </p:spPr>
        <p:txBody>
          <a:bodyPr>
            <a:normAutofit/>
          </a:bodyPr>
          <a:lstStyle/>
          <a:p>
            <a:r>
              <a:rPr lang="en-US" sz="2000" dirty="0"/>
              <a:t>Over all Secondary Education dropout is higher across India</a:t>
            </a:r>
          </a:p>
          <a:p>
            <a:r>
              <a:rPr lang="en-US" sz="2000" dirty="0"/>
              <a:t>In NE &amp; High Population Density states Primary education drop out is more compare to other states</a:t>
            </a:r>
          </a:p>
          <a:p>
            <a:r>
              <a:rPr lang="en-US" sz="2000" dirty="0"/>
              <a:t>Once people enter into Upper Primary education then drop out rate is very less</a:t>
            </a:r>
          </a:p>
          <a:p>
            <a:r>
              <a:rPr lang="en-US" sz="2000" dirty="0"/>
              <a:t>In 2014-15 Senior Secondary education drop is unusual in A&amp;N Iceland, </a:t>
            </a:r>
            <a:r>
              <a:rPr lang="en-US" sz="2000" dirty="0" err="1"/>
              <a:t>Arunanchal</a:t>
            </a:r>
            <a:r>
              <a:rPr lang="en-US" sz="2000" dirty="0"/>
              <a:t> and Daman Diu</a:t>
            </a:r>
          </a:p>
          <a:p>
            <a:r>
              <a:rPr lang="en-US" sz="2000" dirty="0"/>
              <a:t>Across all the states overall education dropout is very high for secondary education in comparison to other categories</a:t>
            </a:r>
          </a:p>
          <a:p>
            <a:pPr marL="0" indent="0">
              <a:buNone/>
            </a:pPr>
            <a:endParaRPr lang="en-US" sz="2000" dirty="0"/>
          </a:p>
        </p:txBody>
      </p:sp>
      <p:sp>
        <p:nvSpPr>
          <p:cNvPr id="6" name="Text Placeholder 5">
            <a:extLst>
              <a:ext uri="{FF2B5EF4-FFF2-40B4-BE49-F238E27FC236}">
                <a16:creationId xmlns:a16="http://schemas.microsoft.com/office/drawing/2014/main" id="{11C11196-9982-47FF-88EC-3DD11C754509}"/>
              </a:ext>
            </a:extLst>
          </p:cNvPr>
          <p:cNvSpPr>
            <a:spLocks noGrp="1"/>
          </p:cNvSpPr>
          <p:nvPr>
            <p:ph type="body" sz="quarter" idx="13"/>
          </p:nvPr>
        </p:nvSpPr>
        <p:spPr/>
        <p:txBody>
          <a:bodyPr/>
          <a:lstStyle/>
          <a:p>
            <a:r>
              <a:rPr lang="en-US" dirty="0"/>
              <a:t>Insight</a:t>
            </a:r>
          </a:p>
        </p:txBody>
      </p:sp>
    </p:spTree>
    <p:extLst>
      <p:ext uri="{BB962C8B-B14F-4D97-AF65-F5344CB8AC3E}">
        <p14:creationId xmlns:p14="http://schemas.microsoft.com/office/powerpoint/2010/main" val="56354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1A1CC-1D84-4B3F-9781-8FBE29FD39DC}"/>
              </a:ext>
            </a:extLst>
          </p:cNvPr>
          <p:cNvSpPr>
            <a:spLocks noGrp="1"/>
          </p:cNvSpPr>
          <p:nvPr>
            <p:ph type="title"/>
          </p:nvPr>
        </p:nvSpPr>
        <p:spPr/>
        <p:txBody>
          <a:bodyPr/>
          <a:lstStyle/>
          <a:p>
            <a:r>
              <a:rPr lang="en-US" dirty="0"/>
              <a:t>Observations of GDP &amp; Edu. Dropout Relation</a:t>
            </a:r>
          </a:p>
        </p:txBody>
      </p:sp>
      <p:sp>
        <p:nvSpPr>
          <p:cNvPr id="3" name="Content Placeholder 2">
            <a:extLst>
              <a:ext uri="{FF2B5EF4-FFF2-40B4-BE49-F238E27FC236}">
                <a16:creationId xmlns:a16="http://schemas.microsoft.com/office/drawing/2014/main" id="{975BDF85-1251-4CA6-8EE2-F124EF6F6528}"/>
              </a:ext>
            </a:extLst>
          </p:cNvPr>
          <p:cNvSpPr>
            <a:spLocks noGrp="1"/>
          </p:cNvSpPr>
          <p:nvPr>
            <p:ph idx="1"/>
          </p:nvPr>
        </p:nvSpPr>
        <p:spPr/>
        <p:txBody>
          <a:bodyPr>
            <a:normAutofit fontScale="92500" lnSpcReduction="10000"/>
          </a:bodyPr>
          <a:lstStyle/>
          <a:p>
            <a:r>
              <a:rPr lang="en-US" sz="2000" dirty="0"/>
              <a:t>Overall dropout and </a:t>
            </a:r>
            <a:r>
              <a:rPr lang="en-US" sz="2000" b="1" dirty="0"/>
              <a:t>Per Capita GDP </a:t>
            </a:r>
            <a:r>
              <a:rPr lang="en-US" sz="2000" dirty="0"/>
              <a:t>has + relationship. However, Senior Secondary dropout and Per Capita GDP has strong + relation</a:t>
            </a:r>
          </a:p>
          <a:p>
            <a:r>
              <a:rPr lang="en-US" sz="2000" dirty="0"/>
              <a:t>Overall dropout and </a:t>
            </a:r>
            <a:r>
              <a:rPr lang="en-US" sz="2000" b="1" dirty="0"/>
              <a:t>GDP growth rate </a:t>
            </a:r>
            <a:r>
              <a:rPr lang="en-US" sz="2000" dirty="0"/>
              <a:t>has + relationship. However, Secondary dropout and GDP growth rate has stronger +</a:t>
            </a:r>
          </a:p>
          <a:p>
            <a:r>
              <a:rPr lang="en-US" sz="2000" dirty="0"/>
              <a:t>Primary education dropout and </a:t>
            </a:r>
            <a:r>
              <a:rPr lang="en-US" sz="2000" b="1" dirty="0"/>
              <a:t>GDP</a:t>
            </a:r>
            <a:r>
              <a:rPr lang="en-US" sz="2000" dirty="0"/>
              <a:t> and  weak negative relationship</a:t>
            </a:r>
          </a:p>
          <a:p>
            <a:r>
              <a:rPr lang="en-US" sz="2000" dirty="0"/>
              <a:t>Overall dropout and </a:t>
            </a:r>
            <a:r>
              <a:rPr lang="en-US" sz="2000" b="1" dirty="0"/>
              <a:t>Population</a:t>
            </a:r>
            <a:r>
              <a:rPr lang="en-US" sz="2000" dirty="0"/>
              <a:t> has no strong relationship of any kind</a:t>
            </a:r>
          </a:p>
          <a:p>
            <a:r>
              <a:rPr lang="en-US" sz="2000" dirty="0"/>
              <a:t>Upper Primary education dropout and </a:t>
            </a:r>
            <a:r>
              <a:rPr lang="en-US" sz="2000" b="1" dirty="0"/>
              <a:t>Population</a:t>
            </a:r>
            <a:r>
              <a:rPr lang="en-US" sz="2000" dirty="0"/>
              <a:t> and has weak positive relationship</a:t>
            </a:r>
          </a:p>
          <a:p>
            <a:r>
              <a:rPr lang="en-US" sz="2000" dirty="0"/>
              <a:t>Overall dropout and </a:t>
            </a:r>
            <a:r>
              <a:rPr lang="en-US" sz="2000" b="1" dirty="0"/>
              <a:t>GSDP</a:t>
            </a:r>
            <a:r>
              <a:rPr lang="en-US" sz="2000" dirty="0"/>
              <a:t> no strong relationship of any kind. However it is </a:t>
            </a:r>
            <a:r>
              <a:rPr lang="en-US" sz="2000" dirty="0" err="1"/>
              <a:t>positve</a:t>
            </a:r>
            <a:r>
              <a:rPr lang="en-US" sz="2000" dirty="0"/>
              <a:t> for Upper Primary Education dropout</a:t>
            </a:r>
          </a:p>
          <a:p>
            <a:r>
              <a:rPr lang="en-US" sz="2000" dirty="0"/>
              <a:t>Overall dropout and </a:t>
            </a:r>
            <a:r>
              <a:rPr lang="en-US" sz="2000" b="1" dirty="0"/>
              <a:t>Primary Sector </a:t>
            </a:r>
            <a:r>
              <a:rPr lang="en-US" sz="2000" dirty="0"/>
              <a:t>has + relationship. It is strong for Upper Primary &amp; Secondary</a:t>
            </a:r>
          </a:p>
          <a:p>
            <a:r>
              <a:rPr lang="en-US" sz="2000" dirty="0"/>
              <a:t>Overall dropout and </a:t>
            </a:r>
            <a:r>
              <a:rPr lang="en-US" sz="2000" b="1" dirty="0"/>
              <a:t>Secondary Sector </a:t>
            </a:r>
            <a:r>
              <a:rPr lang="en-US" sz="2000" dirty="0"/>
              <a:t>has weak + relationship. It is strong for Upper Primary.</a:t>
            </a:r>
          </a:p>
          <a:p>
            <a:r>
              <a:rPr lang="en-US" sz="2000" dirty="0"/>
              <a:t>Overall dropout and </a:t>
            </a:r>
            <a:r>
              <a:rPr lang="en-US" sz="2000" b="1" dirty="0"/>
              <a:t>Secondary Sector </a:t>
            </a:r>
            <a:r>
              <a:rPr lang="en-US" sz="2000" dirty="0"/>
              <a:t>has weak + relationship</a:t>
            </a:r>
          </a:p>
          <a:p>
            <a:r>
              <a:rPr lang="en-US" sz="2000" dirty="0"/>
              <a:t>Secondary &amp; Upper Primary  dropout and </a:t>
            </a:r>
            <a:r>
              <a:rPr lang="en-US" sz="2000" b="1" dirty="0"/>
              <a:t>Tertiary Sector </a:t>
            </a:r>
            <a:r>
              <a:rPr lang="en-US" sz="2000" dirty="0"/>
              <a:t>has weak + relationship.</a:t>
            </a:r>
          </a:p>
          <a:p>
            <a:endParaRPr lang="en-US" sz="2000" dirty="0"/>
          </a:p>
          <a:p>
            <a:endParaRPr lang="en-US" sz="2000" dirty="0"/>
          </a:p>
        </p:txBody>
      </p:sp>
      <p:sp>
        <p:nvSpPr>
          <p:cNvPr id="4" name="Text Placeholder 3">
            <a:extLst>
              <a:ext uri="{FF2B5EF4-FFF2-40B4-BE49-F238E27FC236}">
                <a16:creationId xmlns:a16="http://schemas.microsoft.com/office/drawing/2014/main" id="{39F80CEE-AC33-441B-B774-3754C3456DDF}"/>
              </a:ext>
            </a:extLst>
          </p:cNvPr>
          <p:cNvSpPr>
            <a:spLocks noGrp="1"/>
          </p:cNvSpPr>
          <p:nvPr>
            <p:ph type="body" sz="quarter" idx="13"/>
          </p:nvPr>
        </p:nvSpPr>
        <p:spPr/>
        <p:txBody>
          <a:bodyPr/>
          <a:lstStyle/>
          <a:p>
            <a:r>
              <a:rPr lang="en-US" dirty="0"/>
              <a:t>Insight</a:t>
            </a:r>
          </a:p>
        </p:txBody>
      </p:sp>
    </p:spTree>
    <p:extLst>
      <p:ext uri="{BB962C8B-B14F-4D97-AF65-F5344CB8AC3E}">
        <p14:creationId xmlns:p14="http://schemas.microsoft.com/office/powerpoint/2010/main" val="3740773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6F960-F02E-46C1-A678-8FB9F4227549}"/>
              </a:ext>
            </a:extLst>
          </p:cNvPr>
          <p:cNvSpPr>
            <a:spLocks noGrp="1"/>
          </p:cNvSpPr>
          <p:nvPr>
            <p:ph type="title"/>
          </p:nvPr>
        </p:nvSpPr>
        <p:spPr/>
        <p:txBody>
          <a:bodyPr>
            <a:noAutofit/>
          </a:bodyPr>
          <a:lstStyle/>
          <a:p>
            <a:r>
              <a:rPr lang="en-US" sz="2400" b="1" i="1" dirty="0"/>
              <a:t>Task 3: Form at least one reasonable hypothesis for the observations from the data</a:t>
            </a:r>
            <a:endParaRPr lang="en-US" sz="2400" dirty="0"/>
          </a:p>
        </p:txBody>
      </p:sp>
      <p:sp>
        <p:nvSpPr>
          <p:cNvPr id="3" name="Content Placeholder 2">
            <a:extLst>
              <a:ext uri="{FF2B5EF4-FFF2-40B4-BE49-F238E27FC236}">
                <a16:creationId xmlns:a16="http://schemas.microsoft.com/office/drawing/2014/main" id="{360D6E4C-6E49-4765-B191-BE9665038DF3}"/>
              </a:ext>
            </a:extLst>
          </p:cNvPr>
          <p:cNvSpPr>
            <a:spLocks noGrp="1"/>
          </p:cNvSpPr>
          <p:nvPr>
            <p:ph idx="1"/>
          </p:nvPr>
        </p:nvSpPr>
        <p:spPr/>
        <p:txBody>
          <a:bodyPr/>
          <a:lstStyle/>
          <a:p>
            <a:r>
              <a:rPr lang="en-US" dirty="0"/>
              <a:t>If we get </a:t>
            </a:r>
            <a:r>
              <a:rPr lang="en-US" b="1" dirty="0"/>
              <a:t>more technical skill data</a:t>
            </a:r>
            <a:r>
              <a:rPr lang="en-US" dirty="0"/>
              <a:t> then we will be able see the impact of that on GDP in a better way</a:t>
            </a:r>
          </a:p>
          <a:p>
            <a:r>
              <a:rPr lang="en-US" b="1" dirty="0"/>
              <a:t>Drop out </a:t>
            </a:r>
            <a:r>
              <a:rPr lang="en-US" dirty="0"/>
              <a:t>from traditional schooling may have </a:t>
            </a:r>
            <a:r>
              <a:rPr lang="en-US" b="1" dirty="0"/>
              <a:t>chosen technical schooling </a:t>
            </a:r>
            <a:r>
              <a:rPr lang="en-US" dirty="0"/>
              <a:t>like ITI and it may have </a:t>
            </a:r>
            <a:r>
              <a:rPr lang="en-US" b="1" dirty="0"/>
              <a:t>improved GDP </a:t>
            </a:r>
            <a:r>
              <a:rPr lang="en-US" dirty="0"/>
              <a:t>in the subsequent year(s)</a:t>
            </a:r>
          </a:p>
          <a:p>
            <a:r>
              <a:rPr lang="en-US" dirty="0"/>
              <a:t>Impact of education drop out on GDP is very less in the same year but more in the consecutive years. Dropout does not mean that people went for production nor it means that they went for technical education. So the relationship between dropout and GDP looks more complex.</a:t>
            </a:r>
          </a:p>
          <a:p>
            <a:pPr marL="0" indent="0">
              <a:buNone/>
            </a:pPr>
            <a:endParaRPr lang="en-US" dirty="0"/>
          </a:p>
        </p:txBody>
      </p:sp>
      <p:sp>
        <p:nvSpPr>
          <p:cNvPr id="4" name="Text Placeholder 3">
            <a:extLst>
              <a:ext uri="{FF2B5EF4-FFF2-40B4-BE49-F238E27FC236}">
                <a16:creationId xmlns:a16="http://schemas.microsoft.com/office/drawing/2014/main" id="{DCC46890-E758-4771-9A25-8017BC1D557C}"/>
              </a:ext>
            </a:extLst>
          </p:cNvPr>
          <p:cNvSpPr>
            <a:spLocks noGrp="1"/>
          </p:cNvSpPr>
          <p:nvPr>
            <p:ph type="body" sz="quarter" idx="13"/>
          </p:nvPr>
        </p:nvSpPr>
        <p:spPr/>
        <p:txBody>
          <a:bodyPr/>
          <a:lstStyle/>
          <a:p>
            <a:r>
              <a:rPr lang="en-US" dirty="0"/>
              <a:t>Task 3</a:t>
            </a:r>
          </a:p>
        </p:txBody>
      </p:sp>
    </p:spTree>
    <p:extLst>
      <p:ext uri="{BB962C8B-B14F-4D97-AF65-F5344CB8AC3E}">
        <p14:creationId xmlns:p14="http://schemas.microsoft.com/office/powerpoint/2010/main" val="2869672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Image result for Thank you">
            <a:extLst>
              <a:ext uri="{FF2B5EF4-FFF2-40B4-BE49-F238E27FC236}">
                <a16:creationId xmlns:a16="http://schemas.microsoft.com/office/drawing/2014/main" id="{D5A156B3-0595-4EAD-9199-06B26435F49D}"/>
              </a:ext>
            </a:extLst>
          </p:cNvPr>
          <p:cNvPicPr>
            <a:picLocks noChangeAspect="1" noChangeArrowheads="1"/>
          </p:cNvPicPr>
          <p:nvPr/>
        </p:nvPicPr>
        <p:blipFill>
          <a:blip r:embed="rId2">
            <a:alphaModFix amt="24000"/>
            <a:extLst>
              <a:ext uri="{28A0092B-C50C-407E-A947-70E740481C1C}">
                <a14:useLocalDpi xmlns:a14="http://schemas.microsoft.com/office/drawing/2010/main" val="0"/>
              </a:ext>
            </a:extLst>
          </a:blip>
          <a:srcRect/>
          <a:stretch>
            <a:fillRect/>
          </a:stretch>
        </p:blipFill>
        <p:spPr bwMode="auto">
          <a:xfrm>
            <a:off x="1269876" y="620689"/>
            <a:ext cx="4272474" cy="3024336"/>
          </a:xfrm>
          <a:prstGeom prst="rect">
            <a:avLst/>
          </a:prstGeom>
          <a:noFill/>
          <a:effectLst>
            <a:outerShdw blurRad="50800" dist="50800" dir="5400000" algn="ctr" rotWithShape="0">
              <a:srgbClr val="000000"/>
            </a:outerShdw>
            <a:reflection stA="0" endPos="65000" dist="50800" dir="5400000" sy="-100000" algn="bl" rotWithShape="0"/>
          </a:effectLst>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85ADB7C-547E-4DC8-9E07-85B608F5E9CF}"/>
              </a:ext>
            </a:extLst>
          </p:cNvPr>
          <p:cNvPicPr>
            <a:picLocks noChangeAspect="1"/>
          </p:cNvPicPr>
          <p:nvPr/>
        </p:nvPicPr>
        <p:blipFill>
          <a:blip r:embed="rId3">
            <a:alphaModFix amt="35000"/>
          </a:blip>
          <a:stretch>
            <a:fillRect/>
          </a:stretch>
        </p:blipFill>
        <p:spPr>
          <a:xfrm>
            <a:off x="7069113" y="2132856"/>
            <a:ext cx="4032448" cy="4514518"/>
          </a:xfrm>
          <a:prstGeom prst="rect">
            <a:avLst/>
          </a:prstGeom>
        </p:spPr>
      </p:pic>
    </p:spTree>
    <p:extLst>
      <p:ext uri="{BB962C8B-B14F-4D97-AF65-F5344CB8AC3E}">
        <p14:creationId xmlns:p14="http://schemas.microsoft.com/office/powerpoint/2010/main" val="564609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Hexagonal design templat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1Subtle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dirty="0"/>
        </a:defPPr>
      </a:lstStyle>
      <a:style>
        <a:lnRef idx="1">
          <a:schemeClr val="accent4"/>
        </a:lnRef>
        <a:fillRef idx="3">
          <a:schemeClr val="accent4"/>
        </a:fillRef>
        <a:effectRef idx="2">
          <a:schemeClr val="accent4"/>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accent4"/>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Hexagonal design slides.potx" id="{12658BD0-7259-4A0F-91D4-55B50BBE9BFD}" vid="{57622FE6-AF39-47E3-8976-1D25291C345B}"/>
    </a:ext>
  </a:extLst>
</a:theme>
</file>

<file path=ppt/theme/theme2.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1Subtle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1Subtle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2427FAC-CD3A-494C-985C-09E26C5EA507}">
  <ds:schemaRefs>
    <ds:schemaRef ds:uri="http://schemas.openxmlformats.org/package/2006/metadata/core-properties"/>
    <ds:schemaRef ds:uri="http://schemas.microsoft.com/office/2006/documentManagement/types"/>
    <ds:schemaRef ds:uri="http://purl.org/dc/elements/1.1/"/>
    <ds:schemaRef ds:uri="http://purl.org/dc/terms/"/>
    <ds:schemaRef ds:uri="a4f35948-e619-41b3-aa29-22878b09cfd2"/>
    <ds:schemaRef ds:uri="http://schemas.microsoft.com/office/2006/metadata/properties"/>
    <ds:schemaRef ds:uri="http://www.w3.org/XML/1998/namespace"/>
    <ds:schemaRef ds:uri="http://schemas.microsoft.com/office/infopath/2007/PartnerControls"/>
    <ds:schemaRef ds:uri="40262f94-9f35-4ac3-9a90-690165a166b7"/>
    <ds:schemaRef ds:uri="http://purl.org/dc/dcmitype/"/>
  </ds:schemaRefs>
</ds:datastoreItem>
</file>

<file path=customXml/itemProps2.xml><?xml version="1.0" encoding="utf-8"?>
<ds:datastoreItem xmlns:ds="http://schemas.openxmlformats.org/officeDocument/2006/customXml" ds:itemID="{B11D6E40-F509-498A-BF02-00C895783B4A}">
  <ds:schemaRefs>
    <ds:schemaRef ds:uri="http://schemas.microsoft.com/sharepoint/v3/contenttype/forms"/>
  </ds:schemaRefs>
</ds:datastoreItem>
</file>

<file path=customXml/itemProps3.xml><?xml version="1.0" encoding="utf-8"?>
<ds:datastoreItem xmlns:ds="http://schemas.openxmlformats.org/officeDocument/2006/customXml" ds:itemID="{E5ED73A5-C2D2-4D49-BB89-167E8E32C9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Hexagonal design slides</Template>
  <TotalTime>8046</TotalTime>
  <Words>1898</Words>
  <Application>Microsoft Office PowerPoint</Application>
  <PresentationFormat>Custom</PresentationFormat>
  <Paragraphs>270</Paragraphs>
  <Slides>49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Century Gothic</vt:lpstr>
      <vt:lpstr>Euphemia</vt:lpstr>
      <vt:lpstr>Palatino Linotype</vt:lpstr>
      <vt:lpstr>Hexagonal design template</vt:lpstr>
      <vt:lpstr>GDP Assignment</vt:lpstr>
      <vt:lpstr>Part IA: GDP Analysis of Indian States</vt:lpstr>
      <vt:lpstr>PowerPoint Presentation</vt:lpstr>
      <vt:lpstr>Calculate the average growth of states over the duration 2013-14, 2014-15 and 2015-16</vt:lpstr>
      <vt:lpstr>Mean GSDP of the states between 2013-16</vt:lpstr>
      <vt:lpstr>States have been growing consistently fast, and have been struggling on GDP?</vt:lpstr>
      <vt:lpstr>States have been growing consistently fast, and have been struggling on GDP?</vt:lpstr>
      <vt:lpstr>Curiosity exercise</vt:lpstr>
      <vt:lpstr>Plot the total GDP of the states for the year 2015-16</vt:lpstr>
      <vt:lpstr>Identify the top-5 and the bottom-5 states based on total GDP</vt:lpstr>
      <vt:lpstr>Part IB: GDP Analysis of Indian States</vt:lpstr>
      <vt:lpstr>Guidelines from IIITB</vt:lpstr>
      <vt:lpstr>Population</vt:lpstr>
      <vt:lpstr>Plot the GDP per capita for all the states</vt:lpstr>
      <vt:lpstr>Top-5 and Bottom-5 States based on GDP per capita.</vt:lpstr>
      <vt:lpstr>Highest per capita GDP to the Lowest per capita GDP Ratio</vt:lpstr>
      <vt:lpstr>% Contribution of primary, secondary and tertiary sectors as a percentage of total GDP for all the states.</vt:lpstr>
      <vt:lpstr>One metrics is not enough to measure the business success of a state</vt:lpstr>
      <vt:lpstr>Categorize the states into four categories based on GDP per capita</vt:lpstr>
      <vt:lpstr>Contribution of all the sub-sectors as a percentage of the GSDP of each category</vt:lpstr>
      <vt:lpstr>Top sub-sectors contributing approx. 80% of the GSDP of each category</vt:lpstr>
      <vt:lpstr>Industries Contributing 20% of GDP</vt:lpstr>
      <vt:lpstr>PowerPoint Presentation</vt:lpstr>
      <vt:lpstr>PowerPoint Presentation</vt:lpstr>
      <vt:lpstr>PowerPoint Presentation</vt:lpstr>
      <vt:lpstr>PowerPoint Presentation</vt:lpstr>
      <vt:lpstr>PowerPoint Presentation</vt:lpstr>
      <vt:lpstr>Observe non-obvious insights from Previous Analysis</vt:lpstr>
      <vt:lpstr>Write the key insights you observe from this data</vt:lpstr>
      <vt:lpstr>Write the key insights you observe from this data</vt:lpstr>
      <vt:lpstr>State Specific Questions</vt:lpstr>
      <vt:lpstr>Relevant Important Questions and insights for category separately</vt:lpstr>
      <vt:lpstr>At least two recommendations for each category to Improve the per capita GDP</vt:lpstr>
      <vt:lpstr>Part 2 : GDP and Education Drop-out Rates</vt:lpstr>
      <vt:lpstr>Education Dropout Rate % - 2012-15</vt:lpstr>
      <vt:lpstr>Education Dropout Rate % - 2014-15</vt:lpstr>
      <vt:lpstr>This is Very Interesting Graph</vt:lpstr>
      <vt:lpstr>GDP/Capita to Education Dropout</vt:lpstr>
      <vt:lpstr>GDP Growth Rate to Education Dropout</vt:lpstr>
      <vt:lpstr>Population to Education Dropout</vt:lpstr>
      <vt:lpstr>GSDP to Education Dropout</vt:lpstr>
      <vt:lpstr>Primary Sector GDP to Education Dropout</vt:lpstr>
      <vt:lpstr>Secondary Sector GDP to Education Dropout</vt:lpstr>
      <vt:lpstr>Tertiary Sector GDP to Education Dropout</vt:lpstr>
      <vt:lpstr>Sector wise Observations</vt:lpstr>
      <vt:lpstr>Observations of GDP &amp; Edu. Dropout Relation</vt:lpstr>
      <vt:lpstr>Observations of GDP &amp; Edu. Dropout Relation</vt:lpstr>
      <vt:lpstr>Task 3: Form at least one reasonable hypothesis for the observations from the data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Hari Thapliyal</dc:creator>
  <cp:lastModifiedBy>Hari Thapliyal</cp:lastModifiedBy>
  <cp:revision>107</cp:revision>
  <dcterms:created xsi:type="dcterms:W3CDTF">2019-04-18T13:33:23Z</dcterms:created>
  <dcterms:modified xsi:type="dcterms:W3CDTF">2019-04-27T12:22:51Z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74063900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